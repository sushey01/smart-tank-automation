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My name is Shekhar Lamichhane Magar, Student ID 23189647. Today I am presenting my final technical project for CMP6207 Modern Data Stores: 'Smart Tank Automation: A Distributed, Fault-Tolerant NoSQL Telemetry Platform for IoThings Home Automation Solutions'. In this presentation, I will walk you through the architectural motivation for choosing MongoDB, the design of our distributed cluster, empirical indexing and failover benchmarks, and the production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IoThings Home Automation Solutions is an enterprise managing connected smart home hardware. Their core problem was that their existing relational databases struggled with the high write velocity and evolving JSON schemas of IoT sensors. Whenever microcontrollers received an over-the-air firmware update, relational tables required ALTER TABLE migrations. We recommend polyglot persistence: keep relational engines for transactional billing and CRM, but deploy MongoDB as the dedicated telemetry engine. Our prototype proves three key claims: seamless schema evolution, 105-fold query speedup, and zero lost acknowledged writes during primary hardware failure.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four primary NoSQL families against IoThings requirements. Key-Value stores provide O(1) lookups but cannot query nested fields. Wide-Column stores like Cassandra provide high ingestion through LSM-trees, but ad-hoc analytics require complex external tools like Spark. Graph stores provide index-free adjacency for topologies, but flat append streams cause supernode contention. Document databases, specifically MongoDB, provide the sweet spot: native BSON mapping, flexible schemas, and rich in-database aggregation. Under CAP and PACELC, MongoDB with majority write concern operates as a consistent and partition-tolerant (CP)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compares relational and document paradigms generically. In relational systems, telemetry data must be normalized across tables, requiring joins that degrade read performance. In MongoDB, a complete reading—water depth, float switch positions, and valve states—is stored in a single document atomically. Crucially, our recommendation is not to discard relational databases, but to adopt polyglot persistence: keep PostgreSQL or MySQL for billing and inventory where multi-table transactions excel, and use MongoDB for telemetry.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full end-to-end architecture. At the edge, we simulate an ESP32 microcontroller publishing JSON telemetry over MQTT QoS 1 to Eclipse Mosquitto. A Node.js ingestion worker consumes the MQTT stream, validates payload structure against jsonSchema, evaluates automated control rules, and writes to MongoDB replica set rs0 with majority write concern. Notice the segregation of read and write paths: all mutations go to the Primary, while analytical dashboard reads are routed to Secondaries via secondaryPreferred, preventing analytical queries from degrading ingestion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database structure. The smart_water database consists of five primary collections. Reference data like homes and devices is kept small and static, while sensor_activations is our high-velocity append-only store. On the right, we show real evidence: the top terminal screenshot demonstrates schema evolution where v2.4.1 and v2.5.0 coexist seamlessly without DDL migrations or sparse columns. The bottom screenshot shows MongoDB Compass displaying real nested BSON documents containing ultrasonic depth, volume, and actuator states. Furthermore, we implement 30-day and 7-day TTL indexes to satisfy UK GDPR storage limitation principles.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the dramatic impact of proper index design. In IoT telemetry, the dominant query is: 'give me the latest 50 readings for tank X'. Without an index, MongoDB executes a full collection scan (COLLSCAN) across all 30,985 records and performs an in-memory sort, taking 105 milliseconds. By applying MongoDB's Equality-Sort-Range rule with a compound index on device_id and timestamp descending, the engine inspects exactly 50 keys and returns in 1 millisecond—a 105-fold speedup. On the right is real visual evidence from MongoDB Compass confirming the active indexes and their usage counts.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deliver high availability, we deployed a 3-member MongoDB replica set named rs0. A 3-node set requires a strict quorum of 2 votes. Writes are submitted with majority write concern, ensuring data is written to at least two nodes before being acknowledged. On the right are two real terminal screenshots: the top confirms rs.status() with one healthy Primary and two healthy Secondaries. The bottom screenshot proves document count parity across all three nodes and a measured replication lag of 0.0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rigorously benchmarked cluster failover using scripts/measure-failover.js, which submits probe writes every 500 ms with majority write concern while inducing failures. Under a graceful step-down, write interruption lasted only 0.62 seconds with 100% of writes acknowledged. On the top right is our real React cluster diagnostics page showing active nodes, election status, and cluster topology. On the bottom right, you see Shekhar's authentic quorum loss test: when 2 of 3 nodes were stopped, the cluster returned error 64, proving CP consistency: the cluster pauses writes rather than risking split-brain data corruption.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Replication protects against hardware failure, but it replicates user errors like accidental drops. We verified disaster recovery using mongodump and mongorestore: creating a compressed snapshot in 1.08s and restoring in 5.48s with 100% parity across all 29,756 records, as shown in the authentic terminal capture on the bottom right. On ingestion, we handle MQTT QoS 1 retries with a unique compound index on device_id and timestamp, converting at-least-once into effectively-once storage. We also implemented dual-threshold hysteresis for valves and pumps to eliminate relay chattering.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presentation and integration tier is powered by an Express.js REST API documented with Swagger UI. We implemented full CRUD endpoints for property registry, devices, telemetry histories, and alert lifecycle. Security is enforced at the middleware layer using an X-API-Key header, returning HTTP 401 Unauthorized when unauthenticated, as demonstrated in the real terminal test on the bottom right. Furthermore, read queries enforce secondaryPreferred read routing, ensuring dashboard refreshes don't steal IOPS from the primary.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simple persistence, we turn raw telemetry into household intelligence. We leverage MongoDB's aggregation pipeline—using $dateTrunc and $setWindowFields—to compute daily water usage in-place inside the database. We also implemented overnight leak detection: between 01:00 and 05:00 UTC, if volume drops while actuators are idle, a leak alert is raised. On the right, you see real screenshots of our React 18 dashboard and cluster diagnostics page.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any engineering project, honest appraisal of limitations is vital. Our prototype ran all three nodes on a single host. While election logic worked as designed, it cannot capture cross-datacenter WAN latency. Second, the telemetry is synthetic—it lacks the physical noise of real ultrasonic sensors. Third, security hardening—such as TLS encryption and SCRAM-SHA-256 authentication—was omitted in this local prototype. Recognizing these constraints leads directly into our four-phase production roadmap.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transition this validated prototype into production, we propose a 4-phase gated roadmap. Phase 1 focuses on correctness, implementing a Transactional Outbox pattern so actuator commands and Mongo writes commit atomically. Phase 2 hardens the system with TLS, SCRAM authentication, and multi-availability-zone deployment. Phase 3 validates the platform with 50 physical homes, tuning our leak detection algorithms. Phase 4 introduces horizontal sharding on household_id and timestamp once fleet size exceeds single-primary throughput. Each phase concludes with an explicit, measurable gate before management releases further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adopting MongoDB for the telemetry tier of IoThings is technically sound and operationally beneficial. It delivers schema agility, 105x index acceleration, and verified failover with zero lost acknowledged writes. Our executive recommendation is to retain relational databases for billing and inventory, while deploying MongoDB as the telemetry backbone under our phased roadmap. Thank you very much for your time. I am now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51560"/>
            <a:ext cx="10362895" cy="365760"/>
          </a:xfrm>
          <a:prstGeom prst="rect">
            <a:avLst/>
          </a:prstGeom>
          <a:noFill/>
        </p:spPr>
        <p:txBody>
          <a:bodyPr wrap="none">
            <a:spAutoFit/>
          </a:bodyPr>
          <a:lstStyle/>
          <a:p>
            <a:pPr>
              <a:defRPr sz="1150" b="1">
                <a:solidFill>
                  <a:srgbClr val="0284C7"/>
                </a:solidFill>
                <a:latin typeface="Segoe UI"/>
              </a:defRPr>
            </a:pPr>
            <a:r>
              <a:t>CMP6207 MODERN DATA STORES  •  FINAL TECHNICAL PROJECT PRESENTATION</a:t>
            </a:r>
          </a:p>
        </p:txBody>
      </p:sp>
      <p:sp>
        <p:nvSpPr>
          <p:cNvPr id="4" name="TextBox 3"/>
          <p:cNvSpPr txBox="1"/>
          <p:nvPr/>
        </p:nvSpPr>
        <p:spPr>
          <a:xfrm>
            <a:off x="914400" y="1508760"/>
            <a:ext cx="10362895" cy="2103120"/>
          </a:xfrm>
          <a:prstGeom prst="rect">
            <a:avLst/>
          </a:prstGeom>
          <a:noFill/>
        </p:spPr>
        <p:txBody>
          <a:bodyPr wrap="square">
            <a:spAutoFit/>
          </a:bodyPr>
          <a:lstStyle/>
          <a:p>
            <a:pPr>
              <a:defRPr sz="3800" b="1">
                <a:solidFill>
                  <a:srgbClr val="FFFFFF"/>
                </a:solidFill>
                <a:latin typeface="Segoe UI"/>
              </a:defRPr>
            </a:pPr>
            <a:r>
              <a:t>Smart Tank Automation</a:t>
            </a:r>
          </a:p>
          <a:p>
            <a:pPr>
              <a:spcBef>
                <a:spcPts val="1000"/>
              </a:spcBef>
              <a:defRPr sz="1900">
                <a:solidFill>
                  <a:srgbClr val="94A3B8"/>
                </a:solidFill>
                <a:latin typeface="Segoe UI"/>
              </a:defRPr>
            </a:pPr>
            <a:r>
              <a:t>A Distributed, Fault-Tolerant NoSQL Telemetry Platform for IoThings Home Automation</a:t>
            </a:r>
          </a:p>
        </p:txBody>
      </p:sp>
      <p:sp>
        <p:nvSpPr>
          <p:cNvPr id="5" name="Rectangle 4"/>
          <p:cNvSpPr/>
          <p:nvPr/>
        </p:nvSpPr>
        <p:spPr>
          <a:xfrm>
            <a:off x="914400" y="3886200"/>
            <a:ext cx="10362895"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60520"/>
            <a:ext cx="7772400" cy="2011680"/>
          </a:xfrm>
          <a:prstGeom prst="rect">
            <a:avLst/>
          </a:prstGeom>
          <a:noFill/>
        </p:spPr>
        <p:txBody>
          <a:bodyPr wrap="square">
            <a:spAutoFit/>
          </a:bodyPr>
          <a:lstStyle/>
          <a:p>
            <a:pPr>
              <a:spcAft>
                <a:spcPts val="400"/>
              </a:spcAft>
            </a:pPr>
            <a:r>
              <a:rPr b="1" sz="1150">
                <a:solidFill>
                  <a:srgbClr val="E2E8F0"/>
                </a:solidFill>
              </a:rPr>
              <a:t>Student Name:         </a:t>
            </a:r>
            <a:r>
              <a:rPr sz="1150">
                <a:solidFill>
                  <a:srgbClr val="94A3B8"/>
                </a:solidFill>
              </a:rPr>
              <a:t>Shekhar Lamichhane Magar</a:t>
            </a:r>
          </a:p>
          <a:p>
            <a:pPr>
              <a:spcAft>
                <a:spcPts val="400"/>
              </a:spcAft>
            </a:pPr>
            <a:r>
              <a:rPr b="1" sz="1150">
                <a:solidFill>
                  <a:srgbClr val="E2E8F0"/>
                </a:solidFill>
              </a:rPr>
              <a:t>Student ID:           </a:t>
            </a:r>
            <a:r>
              <a:rPr sz="1150">
                <a:solidFill>
                  <a:srgbClr val="94A3B8"/>
                </a:solidFill>
              </a:rPr>
              <a:t>23189647</a:t>
            </a:r>
          </a:p>
          <a:p>
            <a:pPr>
              <a:spcAft>
                <a:spcPts val="400"/>
              </a:spcAft>
            </a:pPr>
            <a:r>
              <a:rPr b="1" sz="1150">
                <a:solidFill>
                  <a:srgbClr val="E2E8F0"/>
                </a:solidFill>
              </a:rPr>
              <a:t>Programme:            </a:t>
            </a:r>
            <a:r>
              <a:rPr sz="1150">
                <a:solidFill>
                  <a:srgbClr val="94A3B8"/>
                </a:solidFill>
              </a:rPr>
              <a:t>BSc (Hons) Computer and Data Science</a:t>
            </a:r>
          </a:p>
          <a:p>
            <a:pPr>
              <a:spcAft>
                <a:spcPts val="400"/>
              </a:spcAft>
            </a:pPr>
            <a:r>
              <a:rPr b="1" sz="1150">
                <a:solidFill>
                  <a:srgbClr val="E2E8F0"/>
                </a:solidFill>
              </a:rPr>
              <a:t>Institution:          </a:t>
            </a:r>
            <a:r>
              <a:rPr sz="1150">
                <a:solidFill>
                  <a:srgbClr val="94A3B8"/>
                </a:solidFill>
              </a:rPr>
              <a:t>Birmingham City University — Faculty of CEBE</a:t>
            </a:r>
          </a:p>
          <a:p>
            <a:pPr>
              <a:spcAft>
                <a:spcPts val="400"/>
              </a:spcAft>
            </a:pPr>
            <a:r>
              <a:rPr b="1" sz="1150">
                <a:solidFill>
                  <a:srgbClr val="E2E8F0"/>
                </a:solidFill>
              </a:rPr>
              <a:t>Assessment:           </a:t>
            </a:r>
            <a:r>
              <a:rPr sz="1150">
                <a:solidFill>
                  <a:srgbClr val="94A3B8"/>
                </a:solidFill>
              </a:rPr>
              <a:t>CMP6207 Coursework Report &amp; Technical Presentation</a:t>
            </a:r>
          </a:p>
        </p:txBody>
      </p:sp>
      <p:pic>
        <p:nvPicPr>
          <p:cNvPr id="7" name="Picture 6" descr="logo.png"/>
          <p:cNvPicPr>
            <a:picLocks noChangeAspect="1"/>
          </p:cNvPicPr>
          <p:nvPr/>
        </p:nvPicPr>
        <p:blipFill>
          <a:blip r:embed="rId2"/>
          <a:stretch>
            <a:fillRect/>
          </a:stretch>
        </p:blipFill>
        <p:spPr>
          <a:xfrm>
            <a:off x="8961120" y="4343400"/>
            <a:ext cx="2286000" cy="71243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ENTERPRISE CONTEXT</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Executive Summary: Business Problem &amp; NoSQL Fit</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02 / 15</a:t>
            </a:r>
          </a:p>
        </p:txBody>
      </p:sp>
      <p:sp>
        <p:nvSpPr>
          <p:cNvPr id="6" name="Rounded Rectangle 5"/>
          <p:cNvSpPr/>
          <p:nvPr/>
        </p:nvSpPr>
        <p:spPr>
          <a:xfrm>
            <a:off x="731520" y="1325880"/>
            <a:ext cx="516636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581912"/>
            <a:ext cx="4581144" cy="3419856"/>
          </a:xfrm>
          <a:prstGeom prst="rect">
            <a:avLst/>
          </a:prstGeom>
          <a:noFill/>
        </p:spPr>
        <p:txBody>
          <a:bodyPr wrap="square" lIns="36576" rIns="36576" tIns="36576" bIns="36576">
            <a:spAutoFit/>
          </a:bodyPr>
          <a:lstStyle/>
          <a:p>
            <a:pPr>
              <a:defRPr sz="1450" b="1">
                <a:solidFill>
                  <a:srgbClr val="0F172A"/>
                </a:solidFill>
                <a:latin typeface="Segoe UI"/>
              </a:defRPr>
            </a:pPr>
            <a:r>
              <a:t>The Business Problem at IoThings</a:t>
            </a:r>
          </a:p>
          <a:p>
            <a:pPr>
              <a:spcBef>
                <a:spcPts val="500"/>
              </a:spcBef>
            </a:pPr>
            <a:r>
              <a:rPr b="1" sz="950">
                <a:solidFill>
                  <a:srgbClr val="0284C7"/>
                </a:solidFill>
              </a:rPr>
              <a:t>• Connected Smart-Home Provider: </a:t>
            </a:r>
            <a:r>
              <a:rPr sz="950">
                <a:solidFill>
                  <a:srgbClr val="334155"/>
                </a:solidFill>
              </a:rPr>
              <a:t>IoThings designs and manages domestic sensors and actuators (rooftop water tanks, booster pumps, valves).</a:t>
            </a:r>
          </a:p>
          <a:p>
            <a:pPr>
              <a:spcBef>
                <a:spcPts val="500"/>
              </a:spcBef>
            </a:pPr>
            <a:r>
              <a:rPr b="1" sz="950">
                <a:solidFill>
                  <a:srgbClr val="0284C7"/>
                </a:solidFill>
              </a:rPr>
              <a:t>• Relational System Friction: </a:t>
            </a:r>
            <a:r>
              <a:rPr sz="950">
                <a:solidFill>
                  <a:srgbClr val="334155"/>
                </a:solidFill>
              </a:rPr>
              <a:t>Existing ERP and billing run on RDBMS. While great for ACID banking, RDBMS suffers friction under high-velocity append streams.</a:t>
            </a:r>
          </a:p>
          <a:p>
            <a:pPr>
              <a:spcBef>
                <a:spcPts val="500"/>
              </a:spcBef>
            </a:pPr>
            <a:r>
              <a:rPr b="1" sz="950">
                <a:solidFill>
                  <a:srgbClr val="0284C7"/>
                </a:solidFill>
              </a:rPr>
              <a:t>• Firmware Schema Drift: </a:t>
            </a:r>
            <a:r>
              <a:rPr sz="950">
                <a:solidFill>
                  <a:srgbClr val="334155"/>
                </a:solidFill>
              </a:rPr>
              <a:t>OTA firmware updates alter JSON payloads (adding TDS/pH water quality), triggering disruptive ALTER TABLE DDL locks.</a:t>
            </a:r>
          </a:p>
          <a:p>
            <a:pPr>
              <a:spcBef>
                <a:spcPts val="500"/>
              </a:spcBef>
            </a:pPr>
            <a:r>
              <a:rPr b="1" sz="950">
                <a:solidFill>
                  <a:srgbClr val="0284C7"/>
                </a:solidFill>
              </a:rPr>
              <a:t>• Polyglot Persistence Strategy: </a:t>
            </a:r>
            <a:r>
              <a:rPr sz="950">
                <a:solidFill>
                  <a:srgbClr val="334155"/>
                </a:solidFill>
              </a:rPr>
              <a:t>Retain relational engines for accounts and billing; deploy MongoDB as a dedicated telemetry and automation tier.</a:t>
            </a:r>
          </a:p>
        </p:txBody>
      </p:sp>
      <p:sp>
        <p:nvSpPr>
          <p:cNvPr id="8" name="Rounded Rectangle 7"/>
          <p:cNvSpPr/>
          <p:nvPr/>
        </p:nvSpPr>
        <p:spPr>
          <a:xfrm>
            <a:off x="6217920" y="1325880"/>
            <a:ext cx="52578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0528" y="1581912"/>
            <a:ext cx="4672584" cy="3419856"/>
          </a:xfrm>
          <a:prstGeom prst="rect">
            <a:avLst/>
          </a:prstGeom>
          <a:noFill/>
        </p:spPr>
        <p:txBody>
          <a:bodyPr wrap="square" lIns="36576" rIns="36576" tIns="36576" bIns="36576">
            <a:spAutoFit/>
          </a:bodyPr>
          <a:lstStyle/>
          <a:p>
            <a:pPr>
              <a:defRPr sz="1450" b="1">
                <a:solidFill>
                  <a:srgbClr val="0F172A"/>
                </a:solidFill>
                <a:latin typeface="Segoe UI"/>
              </a:defRPr>
            </a:pPr>
            <a:r>
              <a:t>Three Core Pillars for MongoDB Adoption</a:t>
            </a:r>
          </a:p>
          <a:p>
            <a:pPr>
              <a:spcBef>
                <a:spcPts val="600"/>
              </a:spcBef>
            </a:pPr>
            <a:r>
              <a:rPr b="1" sz="1050">
                <a:solidFill>
                  <a:srgbClr val="0D9488"/>
                </a:solidFill>
              </a:rPr>
              <a:t>1. Schema Agility Without Migrations
</a:t>
            </a:r>
            <a:r>
              <a:rPr sz="950">
                <a:solidFill>
                  <a:srgbClr val="334155"/>
                </a:solidFill>
              </a:rPr>
              <a:t>Heterogeneous payloads (v2.4.1 vs v2.5.0 with TDS/pH) coexist seamlessly in the same collection without schema locks or sparse columns.</a:t>
            </a:r>
          </a:p>
          <a:p>
            <a:pPr>
              <a:spcBef>
                <a:spcPts val="600"/>
              </a:spcBef>
            </a:pPr>
            <a:r>
              <a:rPr b="1" sz="1050">
                <a:solidFill>
                  <a:srgbClr val="0D9488"/>
                </a:solidFill>
              </a:rPr>
              <a:t>2. 105x Query Latency Acceleration
</a:t>
            </a:r>
            <a:r>
              <a:rPr sz="950">
                <a:solidFill>
                  <a:srgbClr val="334155"/>
                </a:solidFill>
              </a:rPr>
              <a:t>Applying Equality-Sort-Range compound indexing cuts retrieval from 105 ms down to 1 ms on 30,985 records with zero in-memory sort.</a:t>
            </a:r>
          </a:p>
          <a:p>
            <a:pPr>
              <a:spcBef>
                <a:spcPts val="600"/>
              </a:spcBef>
            </a:pPr>
            <a:r>
              <a:rPr b="1" sz="1050">
                <a:solidFill>
                  <a:srgbClr val="0D9488"/>
                </a:solidFill>
              </a:rPr>
              <a:t>3. Zero Lost Acknowledged Writes
</a:t>
            </a:r>
            <a:r>
              <a:rPr sz="950">
                <a:solidFill>
                  <a:srgbClr val="334155"/>
                </a:solidFill>
              </a:rPr>
              <a:t>A 3-member replica set (rs0) with majority write concern guarantees zero data loss through primary hardware termination.</a:t>
            </a:r>
          </a:p>
        </p:txBody>
      </p:sp>
      <p:sp>
        <p:nvSpPr>
          <p:cNvPr id="10" name="Rounded Rectangle 9"/>
          <p:cNvSpPr/>
          <p:nvPr/>
        </p:nvSpPr>
        <p:spPr>
          <a:xfrm>
            <a:off x="731520" y="5440680"/>
            <a:ext cx="2468880" cy="9601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550408"/>
            <a:ext cx="2194560" cy="740664"/>
          </a:xfrm>
          <a:prstGeom prst="rect">
            <a:avLst/>
          </a:prstGeom>
          <a:noFill/>
        </p:spPr>
        <p:txBody>
          <a:bodyPr wrap="square" lIns="36576" rIns="36576" tIns="36576" bIns="36576">
            <a:spAutoFit/>
          </a:bodyPr>
          <a:lstStyle/>
          <a:p>
            <a:pPr algn="ctr">
              <a:defRPr sz="2200" b="1">
                <a:solidFill>
                  <a:srgbClr val="0284C7"/>
                </a:solidFill>
                <a:latin typeface="Segoe UI"/>
              </a:defRPr>
            </a:pPr>
            <a:r>
              <a:t>2,000 L</a:t>
            </a:r>
          </a:p>
          <a:p>
            <a:pPr algn="ctr">
              <a:spcBef>
                <a:spcPts val="200"/>
              </a:spcBef>
              <a:defRPr sz="1000" b="1">
                <a:solidFill>
                  <a:srgbClr val="0F172A"/>
                </a:solidFill>
                <a:latin typeface="Segoe UI"/>
              </a:defRPr>
            </a:pPr>
            <a:r>
              <a:t>Smart Tank Model</a:t>
            </a:r>
          </a:p>
          <a:p>
            <a:pPr algn="ctr">
              <a:spcBef>
                <a:spcPts val="100"/>
              </a:spcBef>
              <a:defRPr sz="850">
                <a:solidFill>
                  <a:srgbClr val="64748B"/>
                </a:solidFill>
                <a:latin typeface="Segoe UI"/>
              </a:defRPr>
            </a:pPr>
            <a:r>
              <a:t>200 cm rooftop reservoir</a:t>
            </a:r>
          </a:p>
        </p:txBody>
      </p:sp>
      <p:sp>
        <p:nvSpPr>
          <p:cNvPr id="12" name="Rounded Rectangle 11"/>
          <p:cNvSpPr/>
          <p:nvPr/>
        </p:nvSpPr>
        <p:spPr>
          <a:xfrm>
            <a:off x="3383280" y="5440680"/>
            <a:ext cx="2468880" cy="96012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5550408"/>
            <a:ext cx="2194560" cy="740664"/>
          </a:xfrm>
          <a:prstGeom prst="rect">
            <a:avLst/>
          </a:prstGeom>
          <a:noFill/>
        </p:spPr>
        <p:txBody>
          <a:bodyPr wrap="square" lIns="36576" rIns="36576" tIns="36576" bIns="36576">
            <a:spAutoFit/>
          </a:bodyPr>
          <a:lstStyle/>
          <a:p>
            <a:pPr algn="ctr">
              <a:defRPr sz="2200" b="1">
                <a:solidFill>
                  <a:srgbClr val="0D9488"/>
                </a:solidFill>
                <a:latin typeface="Segoe UI"/>
              </a:defRPr>
            </a:pPr>
            <a:r>
              <a:t>1 ms</a:t>
            </a:r>
          </a:p>
          <a:p>
            <a:pPr algn="ctr">
              <a:spcBef>
                <a:spcPts val="200"/>
              </a:spcBef>
              <a:defRPr sz="1000" b="1">
                <a:solidFill>
                  <a:srgbClr val="0F172A"/>
                </a:solidFill>
                <a:latin typeface="Segoe UI"/>
              </a:defRPr>
            </a:pPr>
            <a:r>
              <a:t>Latest Query Latency</a:t>
            </a:r>
          </a:p>
          <a:p>
            <a:pPr algn="ctr">
              <a:spcBef>
                <a:spcPts val="100"/>
              </a:spcBef>
              <a:defRPr sz="850">
                <a:solidFill>
                  <a:srgbClr val="64748B"/>
                </a:solidFill>
                <a:latin typeface="Segoe UI"/>
              </a:defRPr>
            </a:pPr>
            <a:r>
              <a:t>Down from 105 ms (105x)</a:t>
            </a:r>
          </a:p>
        </p:txBody>
      </p:sp>
      <p:sp>
        <p:nvSpPr>
          <p:cNvPr id="14" name="Rounded Rectangle 13"/>
          <p:cNvSpPr/>
          <p:nvPr/>
        </p:nvSpPr>
        <p:spPr>
          <a:xfrm>
            <a:off x="6035040" y="5440680"/>
            <a:ext cx="2468880" cy="960120"/>
          </a:xfrm>
          <a:prstGeom prst="round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5550408"/>
            <a:ext cx="2194560" cy="740664"/>
          </a:xfrm>
          <a:prstGeom prst="rect">
            <a:avLst/>
          </a:prstGeom>
          <a:noFill/>
        </p:spPr>
        <p:txBody>
          <a:bodyPr wrap="square" lIns="36576" rIns="36576" tIns="36576" bIns="36576">
            <a:spAutoFit/>
          </a:bodyPr>
          <a:lstStyle/>
          <a:p>
            <a:pPr algn="ctr">
              <a:defRPr sz="2200" b="1">
                <a:solidFill>
                  <a:srgbClr val="16A34A"/>
                </a:solidFill>
                <a:latin typeface="Segoe UI"/>
              </a:defRPr>
            </a:pPr>
            <a:r>
              <a:t>0 Lost Writes</a:t>
            </a:r>
          </a:p>
          <a:p>
            <a:pPr algn="ctr">
              <a:spcBef>
                <a:spcPts val="200"/>
              </a:spcBef>
              <a:defRPr sz="1000" b="1">
                <a:solidFill>
                  <a:srgbClr val="0F172A"/>
                </a:solidFill>
                <a:latin typeface="Segoe UI"/>
              </a:defRPr>
            </a:pPr>
            <a:r>
              <a:t>Replica Failover</a:t>
            </a:r>
          </a:p>
          <a:p>
            <a:pPr algn="ctr">
              <a:spcBef>
                <a:spcPts val="100"/>
              </a:spcBef>
              <a:defRPr sz="850">
                <a:solidFill>
                  <a:srgbClr val="64748B"/>
                </a:solidFill>
                <a:latin typeface="Segoe UI"/>
              </a:defRPr>
            </a:pPr>
            <a:r>
              <a:t>Tested under kill -9</a:t>
            </a:r>
          </a:p>
        </p:txBody>
      </p:sp>
      <p:sp>
        <p:nvSpPr>
          <p:cNvPr id="16" name="Rounded Rectangle 15"/>
          <p:cNvSpPr/>
          <p:nvPr/>
        </p:nvSpPr>
        <p:spPr>
          <a:xfrm>
            <a:off x="8686800" y="5440680"/>
            <a:ext cx="2788920" cy="9601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5550408"/>
            <a:ext cx="2514600" cy="740664"/>
          </a:xfrm>
          <a:prstGeom prst="rect">
            <a:avLst/>
          </a:prstGeom>
          <a:noFill/>
        </p:spPr>
        <p:txBody>
          <a:bodyPr wrap="square" lIns="36576" rIns="36576" tIns="36576" bIns="36576">
            <a:spAutoFit/>
          </a:bodyPr>
          <a:lstStyle/>
          <a:p>
            <a:pPr algn="ctr">
              <a:defRPr sz="2200" b="1">
                <a:solidFill>
                  <a:srgbClr val="0284C7"/>
                </a:solidFill>
                <a:latin typeface="Segoe UI"/>
              </a:defRPr>
            </a:pPr>
            <a:r>
              <a:t>21 / 21</a:t>
            </a:r>
          </a:p>
          <a:p>
            <a:pPr algn="ctr">
              <a:spcBef>
                <a:spcPts val="200"/>
              </a:spcBef>
              <a:defRPr sz="1000" b="1">
                <a:solidFill>
                  <a:srgbClr val="0F172A"/>
                </a:solidFill>
                <a:latin typeface="Segoe UI"/>
              </a:defRPr>
            </a:pPr>
            <a:r>
              <a:t>Test Suite Passed</a:t>
            </a:r>
          </a:p>
          <a:p>
            <a:pPr algn="ctr">
              <a:spcBef>
                <a:spcPts val="100"/>
              </a:spcBef>
              <a:defRPr sz="850">
                <a:solidFill>
                  <a:srgbClr val="64748B"/>
                </a:solidFill>
                <a:latin typeface="Segoe UI"/>
              </a:defRPr>
            </a:pPr>
            <a:r>
              <a:t>100% verification rate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THEORETICAL ANALYSIS</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NoSQL Landscape &amp; Theoretical Foundations</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03 / 15</a:t>
            </a:r>
          </a:p>
        </p:txBody>
      </p:sp>
      <p:sp>
        <p:nvSpPr>
          <p:cNvPr id="6" name="Rounded Rectangle 5"/>
          <p:cNvSpPr/>
          <p:nvPr/>
        </p:nvSpPr>
        <p:spPr>
          <a:xfrm>
            <a:off x="731520" y="132588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508760"/>
            <a:ext cx="4745736" cy="1691640"/>
          </a:xfrm>
          <a:prstGeom prst="rect">
            <a:avLst/>
          </a:prstGeom>
          <a:noFill/>
        </p:spPr>
        <p:txBody>
          <a:bodyPr wrap="square" lIns="36576" rIns="36576" tIns="36576" bIns="36576">
            <a:spAutoFit/>
          </a:bodyPr>
          <a:lstStyle/>
          <a:p>
            <a:pPr>
              <a:defRPr sz="1150" b="1">
                <a:solidFill>
                  <a:srgbClr val="0F172A"/>
                </a:solidFill>
                <a:latin typeface="Segoe UI"/>
              </a:defRPr>
            </a:pPr>
            <a:r>
              <a:t>KEY-VALUE STORES</a:t>
            </a:r>
            <a:r>
              <a:rPr sz="900" b="0">
                <a:solidFill>
                  <a:srgbClr val="64748B"/>
                </a:solidFill>
              </a:rPr>
              <a:t>  (Redis, Amazon Dynamo)</a:t>
            </a:r>
          </a:p>
          <a:p>
            <a:pPr>
              <a:spcBef>
                <a:spcPts val="150"/>
              </a:spcBef>
            </a:pPr>
            <a:r>
              <a:rPr b="1" sz="880">
                <a:solidFill>
                  <a:srgbClr val="0F172A"/>
                </a:solidFill>
              </a:rPr>
              <a:t>Model: </a:t>
            </a:r>
            <a:r>
              <a:rPr sz="880">
                <a:solidFill>
                  <a:srgbClr val="334155"/>
                </a:solidFill>
              </a:rPr>
              <a:t>Opaque byte arrays indexed by unique key.</a:t>
            </a:r>
          </a:p>
          <a:p>
            <a:pPr>
              <a:spcBef>
                <a:spcPts val="150"/>
              </a:spcBef>
            </a:pPr>
            <a:r>
              <a:rPr b="1" sz="880">
                <a:solidFill>
                  <a:srgbClr val="0F172A"/>
                </a:solidFill>
              </a:rPr>
              <a:t>Strength: </a:t>
            </a:r>
            <a:r>
              <a:rPr sz="880">
                <a:solidFill>
                  <a:srgbClr val="334155"/>
                </a:solidFill>
              </a:rPr>
              <a:t>O(1) constant-time point lookup; simple hash partitioning.</a:t>
            </a:r>
          </a:p>
          <a:p>
            <a:pPr>
              <a:spcBef>
                <a:spcPts val="150"/>
              </a:spcBef>
            </a:pPr>
            <a:r>
              <a:rPr b="1" sz="880">
                <a:solidFill>
                  <a:srgbClr val="0F172A"/>
                </a:solidFill>
              </a:rPr>
              <a:t>Limitation: </a:t>
            </a:r>
            <a:r>
              <a:rPr sz="880">
                <a:solidFill>
                  <a:srgbClr val="334155"/>
                </a:solidFill>
              </a:rPr>
              <a:t>Cannot query nested fields; range scans require full keyspace scan.</a:t>
            </a:r>
          </a:p>
          <a:p>
            <a:pPr>
              <a:spcBef>
                <a:spcPts val="150"/>
              </a:spcBef>
            </a:pPr>
            <a:r>
              <a:rPr b="1" sz="880">
                <a:solidFill>
                  <a:srgbClr val="0D9488"/>
                </a:solidFill>
              </a:rPr>
              <a:t>Verdict: </a:t>
            </a:r>
            <a:r>
              <a:rPr sz="880">
                <a:solidFill>
                  <a:srgbClr val="0284C7"/>
                </a:solidFill>
              </a:rPr>
              <a:t>Good for caching state; poor for analytical time-series.</a:t>
            </a:r>
          </a:p>
        </p:txBody>
      </p:sp>
      <p:sp>
        <p:nvSpPr>
          <p:cNvPr id="8" name="Rounded Rectangle 7"/>
          <p:cNvSpPr/>
          <p:nvPr/>
        </p:nvSpPr>
        <p:spPr>
          <a:xfrm>
            <a:off x="6217920" y="132588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508760"/>
            <a:ext cx="4745736" cy="1691640"/>
          </a:xfrm>
          <a:prstGeom prst="rect">
            <a:avLst/>
          </a:prstGeom>
          <a:noFill/>
        </p:spPr>
        <p:txBody>
          <a:bodyPr wrap="square" lIns="36576" rIns="36576" tIns="36576" bIns="36576">
            <a:spAutoFit/>
          </a:bodyPr>
          <a:lstStyle/>
          <a:p>
            <a:pPr>
              <a:defRPr sz="1150" b="1">
                <a:solidFill>
                  <a:srgbClr val="0F172A"/>
                </a:solidFill>
                <a:latin typeface="Segoe UI"/>
              </a:defRPr>
            </a:pPr>
            <a:r>
              <a:t>DOCUMENT STORES</a:t>
            </a:r>
            <a:r>
              <a:rPr sz="900" b="0">
                <a:solidFill>
                  <a:srgbClr val="64748B"/>
                </a:solidFill>
              </a:rPr>
              <a:t>  (MongoDB, Couchbase)</a:t>
            </a:r>
          </a:p>
          <a:p>
            <a:pPr>
              <a:spcBef>
                <a:spcPts val="150"/>
              </a:spcBef>
            </a:pPr>
            <a:r>
              <a:rPr b="1" sz="880">
                <a:solidFill>
                  <a:srgbClr val="0F172A"/>
                </a:solidFill>
              </a:rPr>
              <a:t>Model: </a:t>
            </a:r>
            <a:r>
              <a:rPr sz="880">
                <a:solidFill>
                  <a:srgbClr val="334155"/>
                </a:solidFill>
              </a:rPr>
              <a:t>Hierarchical BSON/JSON polymorphic documents.</a:t>
            </a:r>
          </a:p>
          <a:p>
            <a:pPr>
              <a:spcBef>
                <a:spcPts val="150"/>
              </a:spcBef>
            </a:pPr>
            <a:r>
              <a:rPr b="1" sz="880">
                <a:solidFill>
                  <a:srgbClr val="0F172A"/>
                </a:solidFill>
              </a:rPr>
              <a:t>Strength: </a:t>
            </a:r>
            <a:r>
              <a:rPr sz="880">
                <a:solidFill>
                  <a:srgbClr val="334155"/>
                </a:solidFill>
              </a:rPr>
              <a:t>Flexible schema, rich secondary indexing, in-database aggregation.</a:t>
            </a:r>
          </a:p>
          <a:p>
            <a:pPr>
              <a:spcBef>
                <a:spcPts val="150"/>
              </a:spcBef>
            </a:pPr>
            <a:r>
              <a:rPr b="1" sz="880">
                <a:solidFill>
                  <a:srgbClr val="0F172A"/>
                </a:solidFill>
              </a:rPr>
              <a:t>Limitation: </a:t>
            </a:r>
            <a:r>
              <a:rPr sz="880">
                <a:solidFill>
                  <a:srgbClr val="334155"/>
                </a:solidFill>
              </a:rPr>
              <a:t>Many-to-many joins are awkward; 16 MB BSON document limit.</a:t>
            </a:r>
          </a:p>
          <a:p>
            <a:pPr>
              <a:spcBef>
                <a:spcPts val="150"/>
              </a:spcBef>
            </a:pPr>
            <a:r>
              <a:rPr b="1" sz="880">
                <a:solidFill>
                  <a:srgbClr val="0D9488"/>
                </a:solidFill>
              </a:rPr>
              <a:t>Verdict: </a:t>
            </a:r>
            <a:r>
              <a:rPr sz="880">
                <a:solidFill>
                  <a:srgbClr val="0284C7"/>
                </a:solidFill>
              </a:rPr>
              <a:t>OPTIMAL: Native JSON telemetry mapping &amp; local analytics.</a:t>
            </a:r>
          </a:p>
        </p:txBody>
      </p:sp>
      <p:sp>
        <p:nvSpPr>
          <p:cNvPr id="10" name="Rounded Rectangle 9"/>
          <p:cNvSpPr/>
          <p:nvPr/>
        </p:nvSpPr>
        <p:spPr>
          <a:xfrm>
            <a:off x="731520" y="352044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703320"/>
            <a:ext cx="4745736" cy="1691640"/>
          </a:xfrm>
          <a:prstGeom prst="rect">
            <a:avLst/>
          </a:prstGeom>
          <a:noFill/>
        </p:spPr>
        <p:txBody>
          <a:bodyPr wrap="square" lIns="36576" rIns="36576" tIns="36576" bIns="36576">
            <a:spAutoFit/>
          </a:bodyPr>
          <a:lstStyle/>
          <a:p>
            <a:pPr>
              <a:defRPr sz="1150" b="1">
                <a:solidFill>
                  <a:srgbClr val="0F172A"/>
                </a:solidFill>
                <a:latin typeface="Segoe UI"/>
              </a:defRPr>
            </a:pPr>
            <a:r>
              <a:t>WIDE-COLUMN STORES</a:t>
            </a:r>
            <a:r>
              <a:rPr sz="900" b="0">
                <a:solidFill>
                  <a:srgbClr val="64748B"/>
                </a:solidFill>
              </a:rPr>
              <a:t>  (Apache Cassandra, Bigtable)</a:t>
            </a:r>
          </a:p>
          <a:p>
            <a:pPr>
              <a:spcBef>
                <a:spcPts val="150"/>
              </a:spcBef>
            </a:pPr>
            <a:r>
              <a:rPr b="1" sz="880">
                <a:solidFill>
                  <a:srgbClr val="0F172A"/>
                </a:solidFill>
              </a:rPr>
              <a:t>Model: </a:t>
            </a:r>
            <a:r>
              <a:rPr sz="880">
                <a:solidFill>
                  <a:srgbClr val="334155"/>
                </a:solidFill>
              </a:rPr>
              <a:t>Multi-dimensional sorted maps (row, col family, time).</a:t>
            </a:r>
          </a:p>
          <a:p>
            <a:pPr>
              <a:spcBef>
                <a:spcPts val="150"/>
              </a:spcBef>
            </a:pPr>
            <a:r>
              <a:rPr b="1" sz="880">
                <a:solidFill>
                  <a:srgbClr val="0F172A"/>
                </a:solidFill>
              </a:rPr>
              <a:t>Strength: </a:t>
            </a:r>
            <a:r>
              <a:rPr sz="880">
                <a:solidFill>
                  <a:srgbClr val="334155"/>
                </a:solidFill>
              </a:rPr>
              <a:t>Very high write throughput (LSM-trees); masterless ring.</a:t>
            </a:r>
          </a:p>
          <a:p>
            <a:pPr>
              <a:spcBef>
                <a:spcPts val="150"/>
              </a:spcBef>
            </a:pPr>
            <a:r>
              <a:rPr b="1" sz="880">
                <a:solidFill>
                  <a:srgbClr val="0F172A"/>
                </a:solidFill>
              </a:rPr>
              <a:t>Limitation: </a:t>
            </a:r>
            <a:r>
              <a:rPr sz="880">
                <a:solidFill>
                  <a:srgbClr val="334155"/>
                </a:solidFill>
              </a:rPr>
              <a:t>Query-first data model; secondary index &amp; ad-hoc analytics limitations.</a:t>
            </a:r>
          </a:p>
          <a:p>
            <a:pPr>
              <a:spcBef>
                <a:spcPts val="150"/>
              </a:spcBef>
            </a:pPr>
            <a:r>
              <a:rPr b="1" sz="880">
                <a:solidFill>
                  <a:srgbClr val="0D9488"/>
                </a:solidFill>
              </a:rPr>
              <a:t>Verdict: </a:t>
            </a:r>
            <a:r>
              <a:rPr sz="880">
                <a:solidFill>
                  <a:srgbClr val="0284C7"/>
                </a:solidFill>
              </a:rPr>
              <a:t>High write scale, but excessive query rigidity for domestic tanks.</a:t>
            </a:r>
          </a:p>
        </p:txBody>
      </p:sp>
      <p:sp>
        <p:nvSpPr>
          <p:cNvPr id="12" name="Rounded Rectangle 11"/>
          <p:cNvSpPr/>
          <p:nvPr/>
        </p:nvSpPr>
        <p:spPr>
          <a:xfrm>
            <a:off x="6217920" y="352044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3703320"/>
            <a:ext cx="4745736" cy="1691640"/>
          </a:xfrm>
          <a:prstGeom prst="rect">
            <a:avLst/>
          </a:prstGeom>
          <a:noFill/>
        </p:spPr>
        <p:txBody>
          <a:bodyPr wrap="square" lIns="36576" rIns="36576" tIns="36576" bIns="36576">
            <a:spAutoFit/>
          </a:bodyPr>
          <a:lstStyle/>
          <a:p>
            <a:pPr>
              <a:defRPr sz="1150" b="1">
                <a:solidFill>
                  <a:srgbClr val="0F172A"/>
                </a:solidFill>
                <a:latin typeface="Segoe UI"/>
              </a:defRPr>
            </a:pPr>
            <a:r>
              <a:t>GRAPH STORES</a:t>
            </a:r>
            <a:r>
              <a:rPr sz="900" b="0">
                <a:solidFill>
                  <a:srgbClr val="64748B"/>
                </a:solidFill>
              </a:rPr>
              <a:t>  (Neo4j)</a:t>
            </a:r>
          </a:p>
          <a:p>
            <a:pPr>
              <a:spcBef>
                <a:spcPts val="150"/>
              </a:spcBef>
            </a:pPr>
            <a:r>
              <a:rPr b="1" sz="880">
                <a:solidFill>
                  <a:srgbClr val="0F172A"/>
                </a:solidFill>
              </a:rPr>
              <a:t>Model: </a:t>
            </a:r>
            <a:r>
              <a:rPr sz="880">
                <a:solidFill>
                  <a:srgbClr val="334155"/>
                </a:solidFill>
              </a:rPr>
              <a:t>Nodes, directed edges, key-value properties.</a:t>
            </a:r>
          </a:p>
          <a:p>
            <a:pPr>
              <a:spcBef>
                <a:spcPts val="150"/>
              </a:spcBef>
            </a:pPr>
            <a:r>
              <a:rPr b="1" sz="880">
                <a:solidFill>
                  <a:srgbClr val="0F172A"/>
                </a:solidFill>
              </a:rPr>
              <a:t>Strength: </a:t>
            </a:r>
            <a:r>
              <a:rPr sz="880">
                <a:solidFill>
                  <a:srgbClr val="334155"/>
                </a:solidFill>
              </a:rPr>
              <a:t>Index-free adjacency: O(1) multi-hop pointer traversals.</a:t>
            </a:r>
          </a:p>
          <a:p>
            <a:pPr>
              <a:spcBef>
                <a:spcPts val="150"/>
              </a:spcBef>
            </a:pPr>
            <a:r>
              <a:rPr b="1" sz="880">
                <a:solidFill>
                  <a:srgbClr val="0F172A"/>
                </a:solidFill>
              </a:rPr>
              <a:t>Limitation: </a:t>
            </a:r>
            <a:r>
              <a:rPr sz="880">
                <a:solidFill>
                  <a:srgbClr val="334155"/>
                </a:solidFill>
              </a:rPr>
              <a:t>Unsuitable for high-velocity append streams; pointer overhead.</a:t>
            </a:r>
          </a:p>
          <a:p>
            <a:pPr>
              <a:spcBef>
                <a:spcPts val="150"/>
              </a:spcBef>
            </a:pPr>
            <a:r>
              <a:rPr b="1" sz="880">
                <a:solidFill>
                  <a:srgbClr val="0D9488"/>
                </a:solidFill>
              </a:rPr>
              <a:t>Verdict: </a:t>
            </a:r>
            <a:r>
              <a:rPr sz="880">
                <a:solidFill>
                  <a:srgbClr val="0284C7"/>
                </a:solidFill>
              </a:rPr>
              <a:t>Ideal for utility pipe topology; unsuited for raw sensor streams.</a:t>
            </a:r>
          </a:p>
        </p:txBody>
      </p:sp>
      <p:sp>
        <p:nvSpPr>
          <p:cNvPr id="14" name="Rounded Rectangle 13"/>
          <p:cNvSpPr/>
          <p:nvPr/>
        </p:nvSpPr>
        <p:spPr>
          <a:xfrm>
            <a:off x="731520" y="5715000"/>
            <a:ext cx="1074420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852160"/>
            <a:ext cx="10287000" cy="502920"/>
          </a:xfrm>
          <a:prstGeom prst="rect">
            <a:avLst/>
          </a:prstGeom>
          <a:noFill/>
        </p:spPr>
        <p:txBody>
          <a:bodyPr wrap="square" lIns="36576" rIns="36576" tIns="36576" bIns="36576">
            <a:spAutoFit/>
          </a:bodyPr>
          <a:lstStyle/>
          <a:p>
            <a:r>
              <a:rPr b="1" sz="950">
                <a:solidFill>
                  <a:srgbClr val="0284C7"/>
                </a:solidFill>
              </a:rPr>
              <a:t>Theoretical Foundations (CAP &amp; PACELC): </a:t>
            </a:r>
            <a:r>
              <a:rPr sz="880">
                <a:solidFill>
                  <a:srgbClr val="334155"/>
                </a:solidFill>
              </a:rPr>
              <a:t>MongoDB WiredTiger uses B-Trees with MVCC, trading write-amplification for zero read-amplification. Under Brewer's CAP and Abadi's PACELC models, configuring majority write concern (w: 'majority') enforces CP characteristics: under network partition, isolated nodes reject writes to prevent split-brain divergence, guaranteeing strong consistency.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PARADIGM EVALUATION</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Critical Comparison: Relational vs. Document Paradigm</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04 / 15</a:t>
            </a:r>
          </a:p>
        </p:txBody>
      </p:sp>
      <p:graphicFrame>
        <p:nvGraphicFramePr>
          <p:cNvPr id="6" name="Table 5"/>
          <p:cNvGraphicFramePr>
            <a:graphicFrameLocks noGrp="1"/>
          </p:cNvGraphicFramePr>
          <p:nvPr/>
        </p:nvGraphicFramePr>
        <p:xfrm>
          <a:off x="731520" y="1325880"/>
          <a:ext cx="10744200" cy="3840480"/>
        </p:xfrm>
        <a:graphic>
          <a:graphicData uri="http://schemas.openxmlformats.org/drawingml/2006/table">
            <a:tbl>
              <a:tblPr firstRow="1" bandRow="1">
                <a:tableStyleId>{5C22544A-7EE6-4342-B048-85BDC9FD1C3A}</a:tableStyleId>
              </a:tblPr>
              <a:tblGrid>
                <a:gridCol w="1920240"/>
                <a:gridCol w="2834640"/>
                <a:gridCol w="2926080"/>
                <a:gridCol w="3063240"/>
              </a:tblGrid>
              <a:tr h="640080">
                <a:tc>
                  <a:txBody>
                    <a:bodyPr/>
                    <a:lstStyle/>
                    <a:p>
                      <a:pPr algn="l">
                        <a:defRPr sz="1000" b="1">
                          <a:solidFill>
                            <a:srgbClr val="FFFFFF"/>
                          </a:solidFill>
                          <a:latin typeface="Segoe UI"/>
                        </a:defRPr>
                      </a:pPr>
                      <a:r>
                        <a:t>Dimension</a:t>
                      </a:r>
                    </a:p>
                  </a:txBody>
                  <a:tcPr>
                    <a:solidFill>
                      <a:srgbClr val="0F172A"/>
                    </a:solidFill>
                  </a:tcPr>
                </a:tc>
                <a:tc>
                  <a:txBody>
                    <a:bodyPr/>
                    <a:lstStyle/>
                    <a:p>
                      <a:pPr algn="l">
                        <a:defRPr sz="1000" b="1">
                          <a:solidFill>
                            <a:srgbClr val="FFFFFF"/>
                          </a:solidFill>
                          <a:latin typeface="Segoe UI"/>
                        </a:defRPr>
                      </a:pPr>
                      <a:r>
                        <a:t>Relational (PostgreSQL / MySQL)</a:t>
                      </a:r>
                    </a:p>
                  </a:txBody>
                  <a:tcPr>
                    <a:solidFill>
                      <a:srgbClr val="0F172A"/>
                    </a:solidFill>
                  </a:tcPr>
                </a:tc>
                <a:tc>
                  <a:txBody>
                    <a:bodyPr/>
                    <a:lstStyle/>
                    <a:p>
                      <a:pPr algn="l">
                        <a:defRPr sz="1000" b="1">
                          <a:solidFill>
                            <a:srgbClr val="FFFFFF"/>
                          </a:solidFill>
                          <a:latin typeface="Segoe UI"/>
                        </a:defRPr>
                      </a:pPr>
                      <a:r>
                        <a:t>Document (MongoDB)</a:t>
                      </a:r>
                    </a:p>
                  </a:txBody>
                  <a:tcPr>
                    <a:solidFill>
                      <a:srgbClr val="0F172A"/>
                    </a:solidFill>
                  </a:tcPr>
                </a:tc>
                <a:tc>
                  <a:txBody>
                    <a:bodyPr/>
                    <a:lstStyle/>
                    <a:p>
                      <a:pPr algn="l">
                        <a:defRPr sz="1000" b="1">
                          <a:solidFill>
                            <a:srgbClr val="FFFFFF"/>
                          </a:solidFill>
                          <a:latin typeface="Segoe UI"/>
                        </a:defRPr>
                      </a:pPr>
                      <a:r>
                        <a:t>IoThings Architectural Implication</a:t>
                      </a:r>
                    </a:p>
                  </a:txBody>
                  <a:tcPr>
                    <a:solidFill>
                      <a:srgbClr val="0F172A"/>
                    </a:solidFill>
                  </a:tcPr>
                </a:tc>
              </a:tr>
              <a:tr h="640080">
                <a:tc>
                  <a:txBody>
                    <a:bodyPr/>
                    <a:lstStyle/>
                    <a:p>
                      <a:pPr>
                        <a:defRPr sz="900" b="1">
                          <a:solidFill>
                            <a:srgbClr val="0284C7"/>
                          </a:solidFill>
                          <a:latin typeface="Segoe UI"/>
                        </a:defRPr>
                      </a:pPr>
                      <a:r>
                        <a:t>Schema Design</a:t>
                      </a:r>
                    </a:p>
                  </a:txBody>
                  <a:tcPr>
                    <a:solidFill>
                      <a:srgbClr val="FFFFFF"/>
                    </a:solidFill>
                  </a:tcPr>
                </a:tc>
                <a:tc>
                  <a:txBody>
                    <a:bodyPr/>
                    <a:lstStyle/>
                    <a:p>
                      <a:pPr>
                        <a:defRPr sz="900" b="0">
                          <a:solidFill>
                            <a:srgbClr val="334155"/>
                          </a:solidFill>
                          <a:latin typeface="Segoe UI"/>
                        </a:defRPr>
                      </a:pPr>
                      <a:r>
                        <a:t>Rigid DDL; ALTER TABLE locks required on schema changes.</a:t>
                      </a:r>
                    </a:p>
                  </a:txBody>
                  <a:tcPr>
                    <a:solidFill>
                      <a:srgbClr val="FFFFFF"/>
                    </a:solidFill>
                  </a:tcPr>
                </a:tc>
                <a:tc>
                  <a:txBody>
                    <a:bodyPr/>
                    <a:lstStyle/>
                    <a:p>
                      <a:pPr>
                        <a:defRPr sz="900" b="0">
                          <a:solidFill>
                            <a:srgbClr val="334155"/>
                          </a:solidFill>
                          <a:latin typeface="Segoe UI"/>
                        </a:defRPr>
                      </a:pPr>
                      <a:r>
                        <a:t>Flexible dynamic schema per document; optional $jsonSchema validation.</a:t>
                      </a:r>
                    </a:p>
                  </a:txBody>
                  <a:tcPr>
                    <a:solidFill>
                      <a:srgbClr val="FFFFFF"/>
                    </a:solidFill>
                  </a:tcPr>
                </a:tc>
                <a:tc>
                  <a:txBody>
                    <a:bodyPr/>
                    <a:lstStyle/>
                    <a:p>
                      <a:pPr>
                        <a:defRPr sz="900" b="1">
                          <a:solidFill>
                            <a:srgbClr val="0D9488"/>
                          </a:solidFill>
                          <a:latin typeface="Segoe UI"/>
                        </a:defRPr>
                      </a:pPr>
                      <a:r>
                        <a:t>Firmware payload updates (v2.4.1 -&gt; v2.5.0) absorbed with zero downtime.</a:t>
                      </a:r>
                    </a:p>
                  </a:txBody>
                  <a:tcPr>
                    <a:solidFill>
                      <a:srgbClr val="FFFFFF"/>
                    </a:solidFill>
                  </a:tcPr>
                </a:tc>
              </a:tr>
              <a:tr h="640080">
                <a:tc>
                  <a:txBody>
                    <a:bodyPr/>
                    <a:lstStyle/>
                    <a:p>
                      <a:pPr>
                        <a:defRPr sz="900" b="1">
                          <a:solidFill>
                            <a:srgbClr val="0284C7"/>
                          </a:solidFill>
                          <a:latin typeface="Segoe UI"/>
                        </a:defRPr>
                      </a:pPr>
                      <a:r>
                        <a:t>Data Layout</a:t>
                      </a:r>
                    </a:p>
                  </a:txBody>
                  <a:tcPr>
                    <a:solidFill>
                      <a:srgbClr val="F1F5F9"/>
                    </a:solidFill>
                  </a:tcPr>
                </a:tc>
                <a:tc>
                  <a:txBody>
                    <a:bodyPr/>
                    <a:lstStyle/>
                    <a:p>
                      <a:pPr>
                        <a:defRPr sz="900" b="0">
                          <a:solidFill>
                            <a:srgbClr val="334155"/>
                          </a:solidFill>
                          <a:latin typeface="Segoe UI"/>
                        </a:defRPr>
                      </a:pPr>
                      <a:r>
                        <a:t>Normalised across multiple tables; reassembled via foreign key JOINs.</a:t>
                      </a:r>
                    </a:p>
                  </a:txBody>
                  <a:tcPr>
                    <a:solidFill>
                      <a:srgbClr val="F1F5F9"/>
                    </a:solidFill>
                  </a:tcPr>
                </a:tc>
                <a:tc>
                  <a:txBody>
                    <a:bodyPr/>
                    <a:lstStyle/>
                    <a:p>
                      <a:pPr>
                        <a:defRPr sz="900" b="0">
                          <a:solidFill>
                            <a:srgbClr val="334155"/>
                          </a:solidFill>
                          <a:latin typeface="Segoe UI"/>
                        </a:defRPr>
                      </a:pPr>
                      <a:r>
                        <a:t>Hierarchical aggregate embedding; related data stored together.</a:t>
                      </a:r>
                    </a:p>
                  </a:txBody>
                  <a:tcPr>
                    <a:solidFill>
                      <a:srgbClr val="F1F5F9"/>
                    </a:solidFill>
                  </a:tcPr>
                </a:tc>
                <a:tc>
                  <a:txBody>
                    <a:bodyPr/>
                    <a:lstStyle/>
                    <a:p>
                      <a:pPr>
                        <a:defRPr sz="900" b="1">
                          <a:solidFill>
                            <a:srgbClr val="0D9488"/>
                          </a:solidFill>
                          <a:latin typeface="Segoe UI"/>
                        </a:defRPr>
                      </a:pPr>
                      <a:r>
                        <a:t>One sensor cycle (depth, floats, relays) stored in one atomic document write.</a:t>
                      </a:r>
                    </a:p>
                  </a:txBody>
                  <a:tcPr>
                    <a:solidFill>
                      <a:srgbClr val="F1F5F9"/>
                    </a:solidFill>
                  </a:tcPr>
                </a:tc>
              </a:tr>
              <a:tr h="640080">
                <a:tc>
                  <a:txBody>
                    <a:bodyPr/>
                    <a:lstStyle/>
                    <a:p>
                      <a:pPr>
                        <a:defRPr sz="900" b="1">
                          <a:solidFill>
                            <a:srgbClr val="0284C7"/>
                          </a:solidFill>
                          <a:latin typeface="Segoe UI"/>
                        </a:defRPr>
                      </a:pPr>
                      <a:r>
                        <a:t>ACID Semantics</a:t>
                      </a:r>
                    </a:p>
                  </a:txBody>
                  <a:tcPr>
                    <a:solidFill>
                      <a:srgbClr val="FFFFFF"/>
                    </a:solidFill>
                  </a:tcPr>
                </a:tc>
                <a:tc>
                  <a:txBody>
                    <a:bodyPr/>
                    <a:lstStyle/>
                    <a:p>
                      <a:pPr>
                        <a:defRPr sz="900" b="0">
                          <a:solidFill>
                            <a:srgbClr val="334155"/>
                          </a:solidFill>
                          <a:latin typeface="Segoe UI"/>
                        </a:defRPr>
                      </a:pPr>
                      <a:r>
                        <a:t>Full multi-row, multi-table ACID transactions.</a:t>
                      </a:r>
                    </a:p>
                  </a:txBody>
                  <a:tcPr>
                    <a:solidFill>
                      <a:srgbClr val="FFFFFF"/>
                    </a:solidFill>
                  </a:tcPr>
                </a:tc>
                <a:tc>
                  <a:txBody>
                    <a:bodyPr/>
                    <a:lstStyle/>
                    <a:p>
                      <a:pPr>
                        <a:defRPr sz="900" b="0">
                          <a:solidFill>
                            <a:srgbClr val="334155"/>
                          </a:solidFill>
                          <a:latin typeface="Segoe UI"/>
                        </a:defRPr>
                      </a:pPr>
                      <a:r>
                        <a:t>Native single-document atomicity; multi-document ACID available.</a:t>
                      </a:r>
                    </a:p>
                  </a:txBody>
                  <a:tcPr>
                    <a:solidFill>
                      <a:srgbClr val="FFFFFF"/>
                    </a:solidFill>
                  </a:tcPr>
                </a:tc>
                <a:tc>
                  <a:txBody>
                    <a:bodyPr/>
                    <a:lstStyle/>
                    <a:p>
                      <a:pPr>
                        <a:defRPr sz="900" b="1">
                          <a:solidFill>
                            <a:srgbClr val="0D9488"/>
                          </a:solidFill>
                          <a:latin typeface="Segoe UI"/>
                        </a:defRPr>
                      </a:pPr>
                      <a:r>
                        <a:t>Billing retains multi-row ACID; telemetry needs only single-document atomicity.</a:t>
                      </a:r>
                    </a:p>
                  </a:txBody>
                  <a:tcPr>
                    <a:solidFill>
                      <a:srgbClr val="FFFFFF"/>
                    </a:solidFill>
                  </a:tcPr>
                </a:tc>
              </a:tr>
              <a:tr h="640080">
                <a:tc>
                  <a:txBody>
                    <a:bodyPr/>
                    <a:lstStyle/>
                    <a:p>
                      <a:pPr>
                        <a:defRPr sz="900" b="1">
                          <a:solidFill>
                            <a:srgbClr val="0284C7"/>
                          </a:solidFill>
                          <a:latin typeface="Segoe UI"/>
                        </a:defRPr>
                      </a:pPr>
                      <a:r>
                        <a:t>Query Model</a:t>
                      </a:r>
                    </a:p>
                  </a:txBody>
                  <a:tcPr>
                    <a:solidFill>
                      <a:srgbClr val="F1F5F9"/>
                    </a:solidFill>
                  </a:tcPr>
                </a:tc>
                <a:tc>
                  <a:txBody>
                    <a:bodyPr/>
                    <a:lstStyle/>
                    <a:p>
                      <a:pPr>
                        <a:defRPr sz="900" b="0">
                          <a:solidFill>
                            <a:srgbClr val="334155"/>
                          </a:solidFill>
                          <a:latin typeface="Segoe UI"/>
                        </a:defRPr>
                      </a:pPr>
                      <a:r>
                        <a:t>Declarative SQL standard; relational algebra.</a:t>
                      </a:r>
                    </a:p>
                  </a:txBody>
                  <a:tcPr>
                    <a:solidFill>
                      <a:srgbClr val="F1F5F9"/>
                    </a:solidFill>
                  </a:tcPr>
                </a:tc>
                <a:tc>
                  <a:txBody>
                    <a:bodyPr/>
                    <a:lstStyle/>
                    <a:p>
                      <a:pPr>
                        <a:defRPr sz="900" b="0">
                          <a:solidFill>
                            <a:srgbClr val="334155"/>
                          </a:solidFill>
                          <a:latin typeface="Segoe UI"/>
                        </a:defRPr>
                      </a:pPr>
                      <a:r>
                        <a:t>BSON query expressions &amp; native aggregation pipeline.</a:t>
                      </a:r>
                    </a:p>
                  </a:txBody>
                  <a:tcPr>
                    <a:solidFill>
                      <a:srgbClr val="F1F5F9"/>
                    </a:solidFill>
                  </a:tcPr>
                </a:tc>
                <a:tc>
                  <a:txBody>
                    <a:bodyPr/>
                    <a:lstStyle/>
                    <a:p>
                      <a:pPr>
                        <a:defRPr sz="900" b="1">
                          <a:solidFill>
                            <a:srgbClr val="0D9488"/>
                          </a:solidFill>
                          <a:latin typeface="Segoe UI"/>
                        </a:defRPr>
                      </a:pPr>
                      <a:r>
                        <a:t>Powerful in-database transformations without separate streaming ETL.</a:t>
                      </a:r>
                    </a:p>
                  </a:txBody>
                  <a:tcPr>
                    <a:solidFill>
                      <a:srgbClr val="F1F5F9"/>
                    </a:solidFill>
                  </a:tcPr>
                </a:tc>
              </a:tr>
              <a:tr h="640080">
                <a:tc>
                  <a:txBody>
                    <a:bodyPr/>
                    <a:lstStyle/>
                    <a:p>
                      <a:pPr>
                        <a:defRPr sz="900" b="1">
                          <a:solidFill>
                            <a:srgbClr val="0284C7"/>
                          </a:solidFill>
                          <a:latin typeface="Segoe UI"/>
                        </a:defRPr>
                      </a:pPr>
                      <a:r>
                        <a:t>Scale-Out Path</a:t>
                      </a:r>
                    </a:p>
                  </a:txBody>
                  <a:tcPr>
                    <a:solidFill>
                      <a:srgbClr val="FFFFFF"/>
                    </a:solidFill>
                  </a:tcPr>
                </a:tc>
                <a:tc>
                  <a:txBody>
                    <a:bodyPr/>
                    <a:lstStyle/>
                    <a:p>
                      <a:pPr>
                        <a:defRPr sz="900" b="0">
                          <a:solidFill>
                            <a:srgbClr val="334155"/>
                          </a:solidFill>
                          <a:latin typeface="Segoe UI"/>
                        </a:defRPr>
                      </a:pPr>
                      <a:r>
                        <a:t>Vertical scaling; read replicas; sharding requires external middleware (Vitess).</a:t>
                      </a:r>
                    </a:p>
                  </a:txBody>
                  <a:tcPr>
                    <a:solidFill>
                      <a:srgbClr val="FFFFFF"/>
                    </a:solidFill>
                  </a:tcPr>
                </a:tc>
                <a:tc>
                  <a:txBody>
                    <a:bodyPr/>
                    <a:lstStyle/>
                    <a:p>
                      <a:pPr>
                        <a:defRPr sz="900" b="0">
                          <a:solidFill>
                            <a:srgbClr val="334155"/>
                          </a:solidFill>
                          <a:latin typeface="Segoe UI"/>
                        </a:defRPr>
                      </a:pPr>
                      <a:r>
                        <a:t>Built-in replication sets &amp; automatic horizontal sharding.</a:t>
                      </a:r>
                    </a:p>
                  </a:txBody>
                  <a:tcPr>
                    <a:solidFill>
                      <a:srgbClr val="FFFFFF"/>
                    </a:solidFill>
                  </a:tcPr>
                </a:tc>
                <a:tc>
                  <a:txBody>
                    <a:bodyPr/>
                    <a:lstStyle/>
                    <a:p>
                      <a:pPr>
                        <a:defRPr sz="900" b="1">
                          <a:solidFill>
                            <a:srgbClr val="0D9488"/>
                          </a:solidFill>
                          <a:latin typeface="Segoe UI"/>
                        </a:defRPr>
                      </a:pPr>
                      <a:r>
                        <a:t>Clear scale-out path from 3-node replica set to distributed sharded cluster.</a:t>
                      </a:r>
                    </a:p>
                  </a:txBody>
                  <a:tcPr>
                    <a:solidFill>
                      <a:srgbClr val="FFFFFF"/>
                    </a:solidFill>
                  </a:tcPr>
                </a:tc>
              </a:tr>
            </a:tbl>
          </a:graphicData>
        </a:graphic>
      </p:graphicFrame>
      <p:sp>
        <p:nvSpPr>
          <p:cNvPr id="7" name="Rounded Rectangle 6"/>
          <p:cNvSpPr/>
          <p:nvPr/>
        </p:nvSpPr>
        <p:spPr>
          <a:xfrm>
            <a:off x="731520" y="5303520"/>
            <a:ext cx="10744200" cy="1051560"/>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468112"/>
            <a:ext cx="10195560" cy="722376"/>
          </a:xfrm>
          <a:prstGeom prst="rect">
            <a:avLst/>
          </a:prstGeom>
          <a:noFill/>
        </p:spPr>
        <p:txBody>
          <a:bodyPr wrap="square" lIns="36576" rIns="36576" tIns="36576" bIns="36576">
            <a:spAutoFit/>
          </a:bodyPr>
          <a:lstStyle/>
          <a:p>
            <a:r>
              <a:rPr b="1" sz="1050">
                <a:solidFill>
                  <a:srgbClr val="4338CA"/>
                </a:solidFill>
              </a:rPr>
              <a:t>Strategic Conclusion on Polyglot Persistence: </a:t>
            </a:r>
            <a:r>
              <a:rPr sz="950">
                <a:solidFill>
                  <a:srgbClr val="334155"/>
                </a:solidFill>
              </a:rPr>
              <a:t>NoSQL is not an all-or-nothing replacement for RDBMS. IoThings adopts a dual-tier polyglot architecture: relational engines maintain structured customer accounts, billing, and regulatory financial data, while MongoDB handles high-velocity sensor telemetry and real-time automation.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SYSTEM DESIGN</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End-to-End System Architecture &amp; Pipeline</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05 / 15</a:t>
            </a:r>
          </a:p>
        </p:txBody>
      </p:sp>
      <p:sp>
        <p:nvSpPr>
          <p:cNvPr id="6" name="Rounded Rectangle 5"/>
          <p:cNvSpPr/>
          <p:nvPr/>
        </p:nvSpPr>
        <p:spPr>
          <a:xfrm>
            <a:off x="731520" y="1325880"/>
            <a:ext cx="512064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581912"/>
            <a:ext cx="4535424" cy="4562856"/>
          </a:xfrm>
          <a:prstGeom prst="rect">
            <a:avLst/>
          </a:prstGeom>
          <a:noFill/>
        </p:spPr>
        <p:txBody>
          <a:bodyPr wrap="square" lIns="36576" rIns="36576" tIns="36576" bIns="36576">
            <a:spAutoFit/>
          </a:bodyPr>
          <a:lstStyle/>
          <a:p>
            <a:pPr>
              <a:defRPr sz="1500" b="1">
                <a:solidFill>
                  <a:srgbClr val="0F172A"/>
                </a:solidFill>
                <a:latin typeface="Segoe UI"/>
              </a:defRPr>
            </a:pPr>
            <a:r>
              <a:t>Architecture &amp; Data Pipeline Flow</a:t>
            </a:r>
          </a:p>
          <a:p>
            <a:pPr>
              <a:spcBef>
                <a:spcPts val="500"/>
              </a:spcBef>
            </a:pPr>
            <a:r>
              <a:rPr b="1" sz="1000">
                <a:solidFill>
                  <a:srgbClr val="0284C7"/>
                </a:solidFill>
              </a:rPr>
              <a:t>• 1. Physics-Based Simulator
</a:t>
            </a:r>
            <a:r>
              <a:rPr sz="900">
                <a:solidFill>
                  <a:srgbClr val="334155"/>
                </a:solidFill>
              </a:rPr>
              <a:t>   Simulates ESP32 microcontroller with HC-SR04 ultrasonic sensor, float switches, and actuator relays for a 2,000L tank.</a:t>
            </a:r>
          </a:p>
          <a:p>
            <a:pPr>
              <a:spcBef>
                <a:spcPts val="500"/>
              </a:spcBef>
            </a:pPr>
            <a:r>
              <a:rPr b="1" sz="1000">
                <a:solidFill>
                  <a:srgbClr val="0284C7"/>
                </a:solidFill>
              </a:rPr>
              <a:t>• 2. MQTT Broker (Mosquitto v2.1.2)
</a:t>
            </a:r>
            <a:r>
              <a:rPr sz="900">
                <a:solidFill>
                  <a:srgbClr val="334155"/>
                </a:solidFill>
              </a:rPr>
              <a:t>   Subscribes on port 1883 at QoS 1 (at-least-once delivery), decoupling edge hardware from database ingestion.</a:t>
            </a:r>
          </a:p>
          <a:p>
            <a:pPr>
              <a:spcBef>
                <a:spcPts val="500"/>
              </a:spcBef>
            </a:pPr>
            <a:r>
              <a:rPr b="1" sz="1000">
                <a:solidFill>
                  <a:srgbClr val="0284C7"/>
                </a:solidFill>
              </a:rPr>
              <a:t>• 3. Node.js Ingestion Engine (v24.14.1)
</a:t>
            </a:r>
            <a:r>
              <a:rPr sz="900">
                <a:solidFill>
                  <a:srgbClr val="334155"/>
                </a:solidFill>
              </a:rPr>
              <a:t>   Validates schemas, routes malformed payloads to Dead-Letter Queue (DLQ), and executes dual-threshold hysteresis control rules.</a:t>
            </a:r>
          </a:p>
          <a:p>
            <a:pPr>
              <a:spcBef>
                <a:spcPts val="500"/>
              </a:spcBef>
            </a:pPr>
            <a:r>
              <a:rPr b="1" sz="1000">
                <a:solidFill>
                  <a:srgbClr val="0284C7"/>
                </a:solidFill>
              </a:rPr>
              <a:t>• 4. MongoDB Distributed Cluster (rs0)
</a:t>
            </a:r>
            <a:r>
              <a:rPr sz="900">
                <a:solidFill>
                  <a:srgbClr val="334155"/>
                </a:solidFill>
              </a:rPr>
              <a:t>   Three-member replica set running v8.0.30 on ports 27017, 27018, 27019. Writes commit with w: 'majority'.</a:t>
            </a:r>
          </a:p>
          <a:p>
            <a:pPr>
              <a:spcBef>
                <a:spcPts val="500"/>
              </a:spcBef>
            </a:pPr>
            <a:r>
              <a:rPr b="1" sz="1000">
                <a:solidFill>
                  <a:srgbClr val="0284C7"/>
                </a:solidFill>
              </a:rPr>
              <a:t>• 5. Express.js REST API &amp; React 18 UI
</a:t>
            </a:r>
            <a:r>
              <a:rPr sz="900">
                <a:solidFill>
                  <a:srgbClr val="334155"/>
                </a:solidFill>
              </a:rPr>
              <a:t>   Express exposes OpenAPI 3.0 / Swagger docs; React dashboard polls every 2s with readPreference: 'secondaryPreferred'.</a:t>
            </a:r>
          </a:p>
        </p:txBody>
      </p:sp>
      <p:sp>
        <p:nvSpPr>
          <p:cNvPr id="8" name="Rounded Rectangle 7"/>
          <p:cNvSpPr/>
          <p:nvPr/>
        </p:nvSpPr>
        <p:spPr>
          <a:xfrm>
            <a:off x="6035040" y="1325880"/>
            <a:ext cx="544068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72184"/>
            <a:ext cx="4983480" cy="320040"/>
          </a:xfrm>
          <a:prstGeom prst="rect">
            <a:avLst/>
          </a:prstGeom>
          <a:noFill/>
        </p:spPr>
        <p:txBody>
          <a:bodyPr wrap="square" lIns="0" rIns="0" tIns="0" bIns="0">
            <a:spAutoFit/>
          </a:bodyPr>
          <a:lstStyle/>
          <a:p>
            <a:pPr>
              <a:defRPr sz="1100" b="1">
                <a:solidFill>
                  <a:srgbClr val="0F172A"/>
                </a:solidFill>
                <a:latin typeface="Segoe UI"/>
              </a:defRPr>
            </a:pPr>
            <a:r>
              <a:t>Pipeline Architecture: Write Path vs Read Path</a:t>
            </a:r>
          </a:p>
          <a:p>
            <a:pPr>
              <a:spcBef>
                <a:spcPts val="100"/>
              </a:spcBef>
              <a:defRPr sz="850">
                <a:solidFill>
                  <a:srgbClr val="64748B"/>
                </a:solidFill>
                <a:latin typeface="Segoe UI"/>
              </a:defRPr>
            </a:pPr>
            <a:r>
              <a:t>Solid lines indicate Primary write path; dashed lines indicate Secondary read routing.</a:t>
            </a:r>
          </a:p>
        </p:txBody>
      </p:sp>
      <p:pic>
        <p:nvPicPr>
          <p:cNvPr id="10" name="Picture 9" descr="01-system-architecture.png"/>
          <p:cNvPicPr>
            <a:picLocks noChangeAspect="1"/>
          </p:cNvPicPr>
          <p:nvPr/>
        </p:nvPicPr>
        <p:blipFill>
          <a:blip r:embed="rId2"/>
          <a:stretch>
            <a:fillRect/>
          </a:stretch>
        </p:blipFill>
        <p:spPr>
          <a:xfrm>
            <a:off x="6236208" y="2159081"/>
            <a:ext cx="5038344" cy="382914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DATABASE DESIGN</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Database Schema &amp; Hierarchical BSON Modeling</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06 / 15</a:t>
            </a:r>
          </a:p>
        </p:txBody>
      </p:sp>
      <p:sp>
        <p:nvSpPr>
          <p:cNvPr id="6" name="Rounded Rectangle 5"/>
          <p:cNvSpPr/>
          <p:nvPr/>
        </p:nvSpPr>
        <p:spPr>
          <a:xfrm>
            <a:off x="731520" y="1325880"/>
            <a:ext cx="502920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480560" cy="4617720"/>
          </a:xfrm>
          <a:prstGeom prst="rect">
            <a:avLst/>
          </a:prstGeom>
          <a:noFill/>
        </p:spPr>
        <p:txBody>
          <a:bodyPr wrap="square" lIns="36576" rIns="36576" tIns="36576" bIns="36576">
            <a:spAutoFit/>
          </a:bodyPr>
          <a:lstStyle/>
          <a:p>
            <a:pPr>
              <a:defRPr sz="1400" b="1">
                <a:solidFill>
                  <a:srgbClr val="0F172A"/>
                </a:solidFill>
                <a:latin typeface="Segoe UI"/>
              </a:defRPr>
            </a:pPr>
            <a:r>
              <a:t>Collections in Database 'smart_water'</a:t>
            </a:r>
          </a:p>
          <a:p>
            <a:pPr>
              <a:spcBef>
                <a:spcPts val="400"/>
              </a:spcBef>
            </a:pPr>
            <a:r>
              <a:rPr b="1" sz="950">
                <a:solidFill>
                  <a:srgbClr val="0D9488"/>
                </a:solidFill>
              </a:rPr>
              <a:t>• homes (Property Registry): </a:t>
            </a:r>
            <a:r>
              <a:rPr sz="880">
                <a:solidFill>
                  <a:srgbClr val="334155"/>
                </a:solidFill>
              </a:rPr>
              <a:t>Static master records storing home_id, address, occupant count.</a:t>
            </a:r>
          </a:p>
          <a:p>
            <a:pPr>
              <a:spcBef>
                <a:spcPts val="400"/>
              </a:spcBef>
            </a:pPr>
            <a:r>
              <a:rPr b="1" sz="950">
                <a:solidFill>
                  <a:srgbClr val="0D9488"/>
                </a:solidFill>
              </a:rPr>
              <a:t>• devices (Hardware Registry): </a:t>
            </a:r>
            <a:r>
              <a:rPr sz="880">
                <a:solidFill>
                  <a:srgbClr val="334155"/>
                </a:solidFill>
              </a:rPr>
              <a:t>IoT hardware metadata, firmware version, tank dimensions (200 cm, 2,000 L).</a:t>
            </a:r>
          </a:p>
          <a:p>
            <a:pPr>
              <a:spcBef>
                <a:spcPts val="400"/>
              </a:spcBef>
            </a:pPr>
            <a:r>
              <a:rPr b="1" sz="950">
                <a:solidFill>
                  <a:srgbClr val="0D9488"/>
                </a:solidFill>
              </a:rPr>
              <a:t>• sensor_activations (Telemetry Event Store): </a:t>
            </a:r>
            <a:r>
              <a:rPr sz="880">
                <a:solidFill>
                  <a:srgbClr val="334155"/>
                </a:solidFill>
              </a:rPr>
              <a:t>Append-only time-series store. Encapsulates ultrasonic depth %, volume in litres, float switches, and actuator states in a single BSON document.</a:t>
            </a:r>
          </a:p>
          <a:p>
            <a:pPr>
              <a:spcBef>
                <a:spcPts val="400"/>
              </a:spcBef>
            </a:pPr>
            <a:r>
              <a:rPr b="1" sz="950">
                <a:solidFill>
                  <a:srgbClr val="0D9488"/>
                </a:solidFill>
              </a:rPr>
              <a:t>• alerts (Operational Alarms): </a:t>
            </a:r>
            <a:r>
              <a:rPr sz="880">
                <a:solidFill>
                  <a:srgbClr val="334155"/>
                </a:solidFill>
              </a:rPr>
              <a:t>Threshold, dry-run, overflow, and leak alerts with acknowledgement status and timestamps.</a:t>
            </a:r>
          </a:p>
          <a:p>
            <a:pPr>
              <a:spcBef>
                <a:spcPts val="400"/>
              </a:spcBef>
            </a:pPr>
            <a:r>
              <a:rPr b="1" sz="950">
                <a:solidFill>
                  <a:srgbClr val="0D9488"/>
                </a:solidFill>
              </a:rPr>
              <a:t>• rejected_messages (Dead-Letter Queue): </a:t>
            </a:r>
            <a:r>
              <a:rPr sz="880">
                <a:solidFill>
                  <a:srgbClr val="334155"/>
                </a:solidFill>
              </a:rPr>
              <a:t>Malformed or unparseable MQTT payloads with validation error logs.</a:t>
            </a:r>
          </a:p>
          <a:p>
            <a:pPr>
              <a:spcBef>
                <a:spcPts val="400"/>
              </a:spcBef>
            </a:pPr>
            <a:r>
              <a:rPr b="1" sz="950">
                <a:solidFill>
                  <a:srgbClr val="0D9488"/>
                </a:solidFill>
              </a:rPr>
              <a:t>• Lifecycle Management (UK GDPR): </a:t>
            </a:r>
            <a:r>
              <a:rPr sz="880">
                <a:solidFill>
                  <a:srgbClr val="334155"/>
                </a:solidFill>
              </a:rPr>
              <a:t>30-day TTL index on sensor_activations and 7-day TTL index on rejected_messages automatically purge stale data.</a:t>
            </a:r>
          </a:p>
        </p:txBody>
      </p:sp>
      <p:sp>
        <p:nvSpPr>
          <p:cNvPr id="8" name="Rounded Rectangle 7"/>
          <p:cNvSpPr/>
          <p:nvPr/>
        </p:nvSpPr>
        <p:spPr>
          <a:xfrm>
            <a:off x="5943600" y="132588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472184"/>
            <a:ext cx="5029200" cy="320040"/>
          </a:xfrm>
          <a:prstGeom prst="rect">
            <a:avLst/>
          </a:prstGeom>
          <a:noFill/>
        </p:spPr>
        <p:txBody>
          <a:bodyPr wrap="square" lIns="0" rIns="0" tIns="0" bIns="0">
            <a:spAutoFit/>
          </a:bodyPr>
          <a:lstStyle/>
          <a:p>
            <a:pPr>
              <a:defRPr sz="1100" b="1">
                <a:solidFill>
                  <a:srgbClr val="0F172A"/>
                </a:solidFill>
                <a:latin typeface="Segoe UI"/>
              </a:defRPr>
            </a:pPr>
            <a:r>
              <a:t>Terminal Screenshot: Real Schema Evolution (Cropped &amp; Zoomed)</a:t>
            </a:r>
          </a:p>
          <a:p>
            <a:pPr>
              <a:spcBef>
                <a:spcPts val="100"/>
              </a:spcBef>
              <a:defRPr sz="850">
                <a:solidFill>
                  <a:srgbClr val="64748B"/>
                </a:solidFill>
                <a:latin typeface="Segoe UI"/>
              </a:defRPr>
            </a:pPr>
            <a:r>
              <a:t>Authentic mongosh terminal showing v2.4.1 and v2.5.0 coexisting without migrations.</a:t>
            </a:r>
          </a:p>
        </p:txBody>
      </p:sp>
      <p:pic>
        <p:nvPicPr>
          <p:cNvPr id="10" name="Picture 9" descr="04-schema-evolution.png"/>
          <p:cNvPicPr>
            <a:picLocks noChangeAspect="1"/>
          </p:cNvPicPr>
          <p:nvPr/>
        </p:nvPicPr>
        <p:blipFill>
          <a:blip r:embed="rId2"/>
          <a:stretch>
            <a:fillRect/>
          </a:stretch>
        </p:blipFill>
        <p:spPr>
          <a:xfrm>
            <a:off x="6144768" y="2087957"/>
            <a:ext cx="5084064" cy="1365349"/>
          </a:xfrm>
          <a:prstGeom prst="rect">
            <a:avLst/>
          </a:prstGeom>
        </p:spPr>
      </p:pic>
      <p:sp>
        <p:nvSpPr>
          <p:cNvPr id="11" name="Rounded Rectangle 10"/>
          <p:cNvSpPr/>
          <p:nvPr/>
        </p:nvSpPr>
        <p:spPr>
          <a:xfrm>
            <a:off x="5943600" y="393192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078224"/>
            <a:ext cx="5029200" cy="320040"/>
          </a:xfrm>
          <a:prstGeom prst="rect">
            <a:avLst/>
          </a:prstGeom>
          <a:noFill/>
        </p:spPr>
        <p:txBody>
          <a:bodyPr wrap="square" lIns="0" rIns="0" tIns="0" bIns="0">
            <a:spAutoFit/>
          </a:bodyPr>
          <a:lstStyle/>
          <a:p>
            <a:pPr>
              <a:defRPr sz="1100" b="1">
                <a:solidFill>
                  <a:srgbClr val="0F172A"/>
                </a:solidFill>
                <a:latin typeface="Segoe UI"/>
              </a:defRPr>
            </a:pPr>
            <a:r>
              <a:t>MongoDB Compass: Real BSON Document Explorer</a:t>
            </a:r>
          </a:p>
          <a:p>
            <a:pPr>
              <a:spcBef>
                <a:spcPts val="100"/>
              </a:spcBef>
              <a:defRPr sz="850">
                <a:solidFill>
                  <a:srgbClr val="64748B"/>
                </a:solidFill>
                <a:latin typeface="Segoe UI"/>
              </a:defRPr>
            </a:pPr>
            <a:r>
              <a:t>Live Compass view displaying nested telemetry, floats, and actuator states.</a:t>
            </a:r>
          </a:p>
        </p:txBody>
      </p:sp>
      <p:pic>
        <p:nvPicPr>
          <p:cNvPr id="13" name="Picture 12" descr="A1-collections-document.png"/>
          <p:cNvPicPr>
            <a:picLocks noChangeAspect="1"/>
          </p:cNvPicPr>
          <p:nvPr/>
        </p:nvPicPr>
        <p:blipFill>
          <a:blip r:embed="rId3"/>
          <a:stretch>
            <a:fillRect/>
          </a:stretch>
        </p:blipFill>
        <p:spPr>
          <a:xfrm>
            <a:off x="7093712" y="4480560"/>
            <a:ext cx="3186176" cy="17922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PERFORMANCE BENCHMARKING</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Query Optimization &amp; Empirical Index Benchmarks</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07 / 15</a:t>
            </a:r>
          </a:p>
        </p:txBody>
      </p:sp>
      <p:sp>
        <p:nvSpPr>
          <p:cNvPr id="6" name="Rounded Rectangle 5"/>
          <p:cNvSpPr/>
          <p:nvPr/>
        </p:nvSpPr>
        <p:spPr>
          <a:xfrm>
            <a:off x="731520" y="1325880"/>
            <a:ext cx="512064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99032"/>
            <a:ext cx="4754880" cy="219456"/>
          </a:xfrm>
          <a:prstGeom prst="rect">
            <a:avLst/>
          </a:prstGeom>
          <a:noFill/>
        </p:spPr>
        <p:txBody>
          <a:bodyPr wrap="square" lIns="36576" rIns="36576" tIns="36576" bIns="36576">
            <a:spAutoFit/>
          </a:bodyPr>
          <a:lstStyle/>
          <a:p>
            <a:pPr>
              <a:defRPr sz="1200" b="1">
                <a:solidFill>
                  <a:srgbClr val="0F172A"/>
                </a:solidFill>
                <a:latin typeface="Segoe UI"/>
              </a:defRPr>
            </a:pPr>
            <a:r>
              <a:t>Empirical Query Plan Benchmark on 30,985 Records</a:t>
            </a:r>
          </a:p>
        </p:txBody>
      </p:sp>
      <p:graphicFrame>
        <p:nvGraphicFramePr>
          <p:cNvPr id="8" name="Table 7"/>
          <p:cNvGraphicFramePr>
            <a:graphicFrameLocks noGrp="1"/>
          </p:cNvGraphicFramePr>
          <p:nvPr/>
        </p:nvGraphicFramePr>
        <p:xfrm>
          <a:off x="914400" y="1737360"/>
          <a:ext cx="4754880" cy="1645920"/>
        </p:xfrm>
        <a:graphic>
          <a:graphicData uri="http://schemas.openxmlformats.org/drawingml/2006/table">
            <a:tbl>
              <a:tblPr firstRow="1" bandRow="1">
                <a:tableStyleId>{5C22544A-7EE6-4342-B048-85BDC9FD1C3A}</a:tableStyleId>
              </a:tblPr>
              <a:tblGrid>
                <a:gridCol w="1463040"/>
                <a:gridCol w="731520"/>
                <a:gridCol w="822960"/>
                <a:gridCol w="1005840"/>
                <a:gridCol w="731520"/>
              </a:tblGrid>
              <a:tr h="548640">
                <a:tc>
                  <a:txBody>
                    <a:bodyPr/>
                    <a:lstStyle/>
                    <a:p>
                      <a:pPr>
                        <a:defRPr sz="900" b="1">
                          <a:solidFill>
                            <a:srgbClr val="FFFFFF"/>
                          </a:solidFill>
                        </a:defRPr>
                      </a:pPr>
                      <a:r>
                        <a:t>Access Path</a:t>
                      </a:r>
                    </a:p>
                  </a:txBody>
                  <a:tcPr>
                    <a:solidFill>
                      <a:srgbClr val="0F172A"/>
                    </a:solidFill>
                  </a:tcPr>
                </a:tc>
                <a:tc>
                  <a:txBody>
                    <a:bodyPr/>
                    <a:lstStyle/>
                    <a:p>
                      <a:pPr>
                        <a:defRPr sz="900" b="1">
                          <a:solidFill>
                            <a:srgbClr val="FFFFFF"/>
                          </a:solidFill>
                        </a:defRPr>
                      </a:pPr>
                      <a:r>
                        <a:t>Keys</a:t>
                      </a:r>
                    </a:p>
                  </a:txBody>
                  <a:tcPr>
                    <a:solidFill>
                      <a:srgbClr val="0F172A"/>
                    </a:solidFill>
                  </a:tcPr>
                </a:tc>
                <a:tc>
                  <a:txBody>
                    <a:bodyPr/>
                    <a:lstStyle/>
                    <a:p>
                      <a:pPr>
                        <a:defRPr sz="900" b="1">
                          <a:solidFill>
                            <a:srgbClr val="FFFFFF"/>
                          </a:solidFill>
                        </a:defRPr>
                      </a:pPr>
                      <a:r>
                        <a:t>Docs</a:t>
                      </a:r>
                    </a:p>
                  </a:txBody>
                  <a:tcPr>
                    <a:solidFill>
                      <a:srgbClr val="0F172A"/>
                    </a:solidFill>
                  </a:tcPr>
                </a:tc>
                <a:tc>
                  <a:txBody>
                    <a:bodyPr/>
                    <a:lstStyle/>
                    <a:p>
                      <a:pPr>
                        <a:defRPr sz="900" b="1">
                          <a:solidFill>
                            <a:srgbClr val="FFFFFF"/>
                          </a:solidFill>
                        </a:defRPr>
                      </a:pPr>
                      <a:r>
                        <a:t>Stages</a:t>
                      </a:r>
                    </a:p>
                  </a:txBody>
                  <a:tcPr>
                    <a:solidFill>
                      <a:srgbClr val="0F172A"/>
                    </a:solidFill>
                  </a:tcPr>
                </a:tc>
                <a:tc>
                  <a:txBody>
                    <a:bodyPr/>
                    <a:lstStyle/>
                    <a:p>
                      <a:pPr>
                        <a:defRPr sz="900" b="1">
                          <a:solidFill>
                            <a:srgbClr val="FFFFFF"/>
                          </a:solidFill>
                        </a:defRPr>
                      </a:pPr>
                      <a:r>
                        <a:t>Latency</a:t>
                      </a:r>
                    </a:p>
                  </a:txBody>
                  <a:tcPr>
                    <a:solidFill>
                      <a:srgbClr val="0F172A"/>
                    </a:solidFill>
                  </a:tcPr>
                </a:tc>
              </a:tr>
              <a:tr h="548640">
                <a:tc>
                  <a:txBody>
                    <a:bodyPr/>
                    <a:lstStyle/>
                    <a:p>
                      <a:pPr>
                        <a:defRPr sz="900" b="0">
                          <a:solidFill>
                            <a:srgbClr val="0F172A"/>
                          </a:solidFill>
                        </a:defRPr>
                      </a:pPr>
                      <a:r>
                        <a:t>Forced CollScan</a:t>
                      </a:r>
                    </a:p>
                  </a:txBody>
                  <a:tcPr>
                    <a:solidFill>
                      <a:srgbClr val="FFFFFF"/>
                    </a:solidFill>
                  </a:tcPr>
                </a:tc>
                <a:tc>
                  <a:txBody>
                    <a:bodyPr/>
                    <a:lstStyle/>
                    <a:p>
                      <a:pPr>
                        <a:defRPr sz="900" b="0">
                          <a:solidFill>
                            <a:srgbClr val="0F172A"/>
                          </a:solidFill>
                        </a:defRPr>
                      </a:pPr>
                      <a:r>
                        <a:t>0</a:t>
                      </a:r>
                    </a:p>
                  </a:txBody>
                  <a:tcPr>
                    <a:solidFill>
                      <a:srgbClr val="FFFFFF"/>
                    </a:solidFill>
                  </a:tcPr>
                </a:tc>
                <a:tc>
                  <a:txBody>
                    <a:bodyPr/>
                    <a:lstStyle/>
                    <a:p>
                      <a:pPr>
                        <a:defRPr sz="900" b="0">
                          <a:solidFill>
                            <a:srgbClr val="0F172A"/>
                          </a:solidFill>
                        </a:defRPr>
                      </a:pPr>
                      <a:r>
                        <a:t>30,985</a:t>
                      </a:r>
                    </a:p>
                  </a:txBody>
                  <a:tcPr>
                    <a:solidFill>
                      <a:srgbClr val="FFFFFF"/>
                    </a:solidFill>
                  </a:tcPr>
                </a:tc>
                <a:tc>
                  <a:txBody>
                    <a:bodyPr/>
                    <a:lstStyle/>
                    <a:p>
                      <a:pPr>
                        <a:defRPr sz="900" b="0">
                          <a:solidFill>
                            <a:srgbClr val="0F172A"/>
                          </a:solidFill>
                        </a:defRPr>
                      </a:pPr>
                      <a:r>
                        <a:t>SORT -&gt; COLLSCAN</a:t>
                      </a:r>
                    </a:p>
                  </a:txBody>
                  <a:tcPr>
                    <a:solidFill>
                      <a:srgbClr val="FFFFFF"/>
                    </a:solidFill>
                  </a:tcPr>
                </a:tc>
                <a:tc>
                  <a:txBody>
                    <a:bodyPr/>
                    <a:lstStyle/>
                    <a:p>
                      <a:pPr>
                        <a:defRPr sz="900" b="0">
                          <a:solidFill>
                            <a:srgbClr val="0F172A"/>
                          </a:solidFill>
                        </a:defRPr>
                      </a:pPr>
                      <a:r>
                        <a:t>105 ms</a:t>
                      </a:r>
                    </a:p>
                  </a:txBody>
                  <a:tcPr>
                    <a:solidFill>
                      <a:srgbClr val="FFFFFF"/>
                    </a:solidFill>
                  </a:tcPr>
                </a:tc>
              </a:tr>
              <a:tr h="548640">
                <a:tc>
                  <a:txBody>
                    <a:bodyPr/>
                    <a:lstStyle/>
                    <a:p>
                      <a:pPr>
                        <a:defRPr sz="900" b="1">
                          <a:solidFill>
                            <a:srgbClr val="0F172A"/>
                          </a:solidFill>
                        </a:defRPr>
                      </a:pPr>
                      <a:r>
                        <a:t>Compound (ESR)</a:t>
                      </a:r>
                    </a:p>
                  </a:txBody>
                  <a:tcPr>
                    <a:solidFill>
                      <a:srgbClr val="F0FDF4"/>
                    </a:solidFill>
                  </a:tcPr>
                </a:tc>
                <a:tc>
                  <a:txBody>
                    <a:bodyPr/>
                    <a:lstStyle/>
                    <a:p>
                      <a:pPr>
                        <a:defRPr sz="900" b="1">
                          <a:solidFill>
                            <a:srgbClr val="0F172A"/>
                          </a:solidFill>
                        </a:defRPr>
                      </a:pPr>
                      <a:r>
                        <a:t>50</a:t>
                      </a:r>
                    </a:p>
                  </a:txBody>
                  <a:tcPr>
                    <a:solidFill>
                      <a:srgbClr val="F0FDF4"/>
                    </a:solidFill>
                  </a:tcPr>
                </a:tc>
                <a:tc>
                  <a:txBody>
                    <a:bodyPr/>
                    <a:lstStyle/>
                    <a:p>
                      <a:pPr>
                        <a:defRPr sz="900" b="1">
                          <a:solidFill>
                            <a:srgbClr val="0F172A"/>
                          </a:solidFill>
                        </a:defRPr>
                      </a:pPr>
                      <a:r>
                        <a:t>50</a:t>
                      </a:r>
                    </a:p>
                  </a:txBody>
                  <a:tcPr>
                    <a:solidFill>
                      <a:srgbClr val="F0FDF4"/>
                    </a:solidFill>
                  </a:tcPr>
                </a:tc>
                <a:tc>
                  <a:txBody>
                    <a:bodyPr/>
                    <a:lstStyle/>
                    <a:p>
                      <a:pPr>
                        <a:defRPr sz="900" b="1">
                          <a:solidFill>
                            <a:srgbClr val="0F172A"/>
                          </a:solidFill>
                        </a:defRPr>
                      </a:pPr>
                      <a:r>
                        <a:t>LIMIT -&gt; IXSCAN</a:t>
                      </a:r>
                    </a:p>
                  </a:txBody>
                  <a:tcPr>
                    <a:solidFill>
                      <a:srgbClr val="F0FDF4"/>
                    </a:solidFill>
                  </a:tcPr>
                </a:tc>
                <a:tc>
                  <a:txBody>
                    <a:bodyPr/>
                    <a:lstStyle/>
                    <a:p>
                      <a:pPr>
                        <a:defRPr sz="900" b="1">
                          <a:solidFill>
                            <a:srgbClr val="16A34A"/>
                          </a:solidFill>
                        </a:defRPr>
                      </a:pPr>
                      <a:r>
                        <a:t>1 ms</a:t>
                      </a:r>
                    </a:p>
                  </a:txBody>
                  <a:tcPr>
                    <a:solidFill>
                      <a:srgbClr val="F0FDF4"/>
                    </a:solidFill>
                  </a:tcPr>
                </a:tc>
              </a:tr>
            </a:tbl>
          </a:graphicData>
        </a:graphic>
      </p:graphicFrame>
      <p:sp>
        <p:nvSpPr>
          <p:cNvPr id="9" name="Rounded Rectangle 8"/>
          <p:cNvSpPr/>
          <p:nvPr/>
        </p:nvSpPr>
        <p:spPr>
          <a:xfrm>
            <a:off x="731520" y="3703320"/>
            <a:ext cx="512064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886200"/>
            <a:ext cx="4572000" cy="2331720"/>
          </a:xfrm>
          <a:prstGeom prst="rect">
            <a:avLst/>
          </a:prstGeom>
          <a:noFill/>
        </p:spPr>
        <p:txBody>
          <a:bodyPr wrap="square" lIns="36576" rIns="36576" tIns="36576" bIns="36576">
            <a:spAutoFit/>
          </a:bodyPr>
          <a:lstStyle/>
          <a:p>
            <a:pPr>
              <a:defRPr sz="1300" b="1">
                <a:solidFill>
                  <a:srgbClr val="0F172A"/>
                </a:solidFill>
                <a:latin typeface="Segoe UI"/>
              </a:defRPr>
            </a:pPr>
            <a:r>
              <a:t>Index Design Principles &amp; ESR Guideline</a:t>
            </a:r>
          </a:p>
          <a:p>
            <a:pPr>
              <a:spcBef>
                <a:spcPts val="400"/>
              </a:spcBef>
            </a:pPr>
            <a:r>
              <a:rPr b="1" sz="900">
                <a:solidFill>
                  <a:srgbClr val="0284C7"/>
                </a:solidFill>
              </a:rPr>
              <a:t>• Equality-Sort-Range (ESR): </a:t>
            </a:r>
            <a:r>
              <a:rPr sz="900">
                <a:solidFill>
                  <a:srgbClr val="334155"/>
                </a:solidFill>
              </a:rPr>
              <a:t>Compound index { device_id: 1, timestamp: -1 } places equality filter first and sort order second, avoiding in-memory sort entirely.</a:t>
            </a:r>
          </a:p>
          <a:p>
            <a:pPr>
              <a:spcBef>
                <a:spcPts val="400"/>
              </a:spcBef>
            </a:pPr>
            <a:r>
              <a:rPr b="1" sz="900">
                <a:solidFill>
                  <a:srgbClr val="0284C7"/>
                </a:solidFill>
              </a:rPr>
              <a:t>• 105x Latency Improvement: </a:t>
            </a:r>
            <a:r>
              <a:rPr sz="900">
                <a:solidFill>
                  <a:srgbClr val="334155"/>
                </a:solidFill>
              </a:rPr>
              <a:t>Scanning 30,985 documents took 105 ms. The compound index examined exactly 50 keys and 50 documents, returning results in 1 ms.</a:t>
            </a:r>
          </a:p>
          <a:p>
            <a:pPr>
              <a:spcBef>
                <a:spcPts val="400"/>
              </a:spcBef>
            </a:pPr>
            <a:r>
              <a:rPr b="1" sz="900">
                <a:solidFill>
                  <a:srgbClr val="0284C7"/>
                </a:solidFill>
              </a:rPr>
              <a:t>• Index Governance in Compass: </a:t>
            </a:r>
            <a:r>
              <a:rPr sz="900">
                <a:solidFill>
                  <a:srgbClr val="334155"/>
                </a:solidFill>
              </a:rPr>
              <a:t>Monitored index usage counts; identified unused indexes (alert_time, type_time) for deprecation before production.</a:t>
            </a:r>
          </a:p>
        </p:txBody>
      </p:sp>
      <p:sp>
        <p:nvSpPr>
          <p:cNvPr id="11" name="Rounded Rectangle 10"/>
          <p:cNvSpPr/>
          <p:nvPr/>
        </p:nvSpPr>
        <p:spPr>
          <a:xfrm>
            <a:off x="6035040" y="1325880"/>
            <a:ext cx="544068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472184"/>
            <a:ext cx="4983480" cy="320040"/>
          </a:xfrm>
          <a:prstGeom prst="rect">
            <a:avLst/>
          </a:prstGeom>
          <a:noFill/>
        </p:spPr>
        <p:txBody>
          <a:bodyPr wrap="square" lIns="0" rIns="0" tIns="0" bIns="0">
            <a:spAutoFit/>
          </a:bodyPr>
          <a:lstStyle/>
          <a:p>
            <a:pPr>
              <a:defRPr sz="1100" b="1">
                <a:solidFill>
                  <a:srgbClr val="0F172A"/>
                </a:solidFill>
                <a:latin typeface="Segoe UI"/>
              </a:defRPr>
            </a:pPr>
            <a:r>
              <a:t>MongoDB Compass: Real Index Inspection &amp; Audit</a:t>
            </a:r>
          </a:p>
          <a:p>
            <a:pPr>
              <a:spcBef>
                <a:spcPts val="100"/>
              </a:spcBef>
              <a:defRPr sz="850">
                <a:solidFill>
                  <a:srgbClr val="64748B"/>
                </a:solidFill>
                <a:latin typeface="Segoe UI"/>
              </a:defRPr>
            </a:pPr>
            <a:r>
              <a:t>Compound index (device_id, timestamp) and unique index with measured usage counts.</a:t>
            </a:r>
          </a:p>
        </p:txBody>
      </p:sp>
      <p:pic>
        <p:nvPicPr>
          <p:cNvPr id="13" name="Picture 12" descr="04-compass-indexes.png"/>
          <p:cNvPicPr>
            <a:picLocks noChangeAspect="1"/>
          </p:cNvPicPr>
          <p:nvPr/>
        </p:nvPicPr>
        <p:blipFill>
          <a:blip r:embed="rId2"/>
          <a:stretch>
            <a:fillRect/>
          </a:stretch>
        </p:blipFill>
        <p:spPr>
          <a:xfrm>
            <a:off x="6236208" y="2656617"/>
            <a:ext cx="5038344" cy="283406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DISTRIBUTED MANAGEMENT</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High Availability: 3-Member Replica Set Architecture</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08 / 15</a:t>
            </a:r>
          </a:p>
        </p:txBody>
      </p:sp>
      <p:sp>
        <p:nvSpPr>
          <p:cNvPr id="6" name="Rounded Rectangle 5"/>
          <p:cNvSpPr/>
          <p:nvPr/>
        </p:nvSpPr>
        <p:spPr>
          <a:xfrm>
            <a:off x="731520" y="1325880"/>
            <a:ext cx="502920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480560" cy="4617720"/>
          </a:xfrm>
          <a:prstGeom prst="rect">
            <a:avLst/>
          </a:prstGeom>
          <a:noFill/>
        </p:spPr>
        <p:txBody>
          <a:bodyPr wrap="square" lIns="36576" rIns="36576" tIns="36576" bIns="36576">
            <a:spAutoFit/>
          </a:bodyPr>
          <a:lstStyle/>
          <a:p>
            <a:pPr>
              <a:defRPr sz="1400" b="1">
                <a:solidFill>
                  <a:srgbClr val="0F172A"/>
                </a:solidFill>
                <a:latin typeface="Segoe UI"/>
              </a:defRPr>
            </a:pPr>
            <a:r>
              <a:t>Replica Set 'rs0' Architecture &amp; Quorum</a:t>
            </a:r>
          </a:p>
          <a:p>
            <a:pPr>
              <a:spcBef>
                <a:spcPts val="400"/>
              </a:spcBef>
            </a:pPr>
            <a:r>
              <a:rPr b="1" sz="950">
                <a:solidFill>
                  <a:srgbClr val="0D9488"/>
                </a:solidFill>
              </a:rPr>
              <a:t>• Topology: </a:t>
            </a:r>
            <a:r>
              <a:rPr sz="880">
                <a:solidFill>
                  <a:srgbClr val="334155"/>
                </a:solidFill>
              </a:rPr>
              <a:t>3 voting nodes deployed across distinct ports (27017 Primary, 27018 Secondary, 27019 Secondary) with isolated data paths.</a:t>
            </a:r>
          </a:p>
          <a:p>
            <a:pPr>
              <a:spcBef>
                <a:spcPts val="400"/>
              </a:spcBef>
            </a:pPr>
            <a:r>
              <a:rPr b="1" sz="950">
                <a:solidFill>
                  <a:srgbClr val="0D9488"/>
                </a:solidFill>
              </a:rPr>
              <a:t>• Strict Quorum Arithmetic: </a:t>
            </a:r>
            <a:r>
              <a:rPr sz="880">
                <a:solidFill>
                  <a:srgbClr val="334155"/>
                </a:solidFill>
              </a:rPr>
              <a:t>Majority required = floor(N/2) + 1 = floor(3/2) + 1 = 2 voting nodes. Writes require 2 confirmations before client acknowledgement.</a:t>
            </a:r>
          </a:p>
          <a:p>
            <a:pPr>
              <a:spcBef>
                <a:spcPts val="400"/>
              </a:spcBef>
            </a:pPr>
            <a:r>
              <a:rPr b="1" sz="950">
                <a:solidFill>
                  <a:srgbClr val="0D9488"/>
                </a:solidFill>
              </a:rPr>
              <a:t>• Replication Synchronization: </a:t>
            </a:r>
            <a:r>
              <a:rPr sz="880">
                <a:solidFill>
                  <a:srgbClr val="334155"/>
                </a:solidFill>
              </a:rPr>
              <a:t>Secondaries continuously stream and apply operations from the Primary's oplog (operation log). Measured replication lag: 0.0 seconds.</a:t>
            </a:r>
          </a:p>
          <a:p>
            <a:pPr>
              <a:spcBef>
                <a:spcPts val="400"/>
              </a:spcBef>
            </a:pPr>
            <a:r>
              <a:rPr b="1" sz="950">
                <a:solidFill>
                  <a:srgbClr val="0D9488"/>
                </a:solidFill>
              </a:rPr>
              <a:t>• Heartbeats &amp; Raft Elections: </a:t>
            </a:r>
            <a:r>
              <a:rPr sz="880">
                <a:solidFill>
                  <a:srgbClr val="334155"/>
                </a:solidFill>
              </a:rPr>
              <a:t>Nodes exchange heartbeats every 2 seconds. If Primary heartbeats fail for electionTimeoutMillis (10s), secondaries initiate an election.</a:t>
            </a:r>
          </a:p>
          <a:p>
            <a:pPr>
              <a:spcBef>
                <a:spcPts val="400"/>
              </a:spcBef>
            </a:pPr>
            <a:r>
              <a:rPr b="1" sz="950">
                <a:solidFill>
                  <a:srgbClr val="0D9488"/>
                </a:solidFill>
              </a:rPr>
              <a:t>• Read Routing (secondaryPreferred): </a:t>
            </a:r>
            <a:r>
              <a:rPr sz="880">
                <a:solidFill>
                  <a:srgbClr val="334155"/>
                </a:solidFill>
              </a:rPr>
              <a:t>Dashboard analytical queries route to secondaries, insulating the primary from heavy reporting reads.</a:t>
            </a:r>
          </a:p>
        </p:txBody>
      </p:sp>
      <p:sp>
        <p:nvSpPr>
          <p:cNvPr id="8" name="Rounded Rectangle 7"/>
          <p:cNvSpPr/>
          <p:nvPr/>
        </p:nvSpPr>
        <p:spPr>
          <a:xfrm>
            <a:off x="5943600" y="132588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472184"/>
            <a:ext cx="5029200" cy="320040"/>
          </a:xfrm>
          <a:prstGeom prst="rect">
            <a:avLst/>
          </a:prstGeom>
          <a:noFill/>
        </p:spPr>
        <p:txBody>
          <a:bodyPr wrap="square" lIns="0" rIns="0" tIns="0" bIns="0">
            <a:spAutoFit/>
          </a:bodyPr>
          <a:lstStyle/>
          <a:p>
            <a:pPr>
              <a:defRPr sz="1100" b="1">
                <a:solidFill>
                  <a:srgbClr val="0F172A"/>
                </a:solidFill>
                <a:latin typeface="Segoe UI"/>
              </a:defRPr>
            </a:pPr>
            <a:r>
              <a:t>Terminal Evidence: Real rs.status() Output</a:t>
            </a:r>
          </a:p>
          <a:p>
            <a:pPr>
              <a:spcBef>
                <a:spcPts val="100"/>
              </a:spcBef>
              <a:defRPr sz="850">
                <a:solidFill>
                  <a:srgbClr val="64748B"/>
                </a:solidFill>
                <a:latin typeface="Segoe UI"/>
              </a:defRPr>
            </a:pPr>
            <a:r>
              <a:t>Node 27017 elected PRIMARY; nodes 27018 and 27019 healthy SECONDARY.</a:t>
            </a:r>
          </a:p>
        </p:txBody>
      </p:sp>
      <p:pic>
        <p:nvPicPr>
          <p:cNvPr id="10" name="Picture 9" descr="B1-rs-status.png"/>
          <p:cNvPicPr>
            <a:picLocks noChangeAspect="1"/>
          </p:cNvPicPr>
          <p:nvPr/>
        </p:nvPicPr>
        <p:blipFill>
          <a:blip r:embed="rId2"/>
          <a:stretch>
            <a:fillRect/>
          </a:stretch>
        </p:blipFill>
        <p:spPr>
          <a:xfrm>
            <a:off x="7093712" y="1874520"/>
            <a:ext cx="3186176" cy="1792224"/>
          </a:xfrm>
          <a:prstGeom prst="rect">
            <a:avLst/>
          </a:prstGeom>
        </p:spPr>
      </p:pic>
      <p:sp>
        <p:nvSpPr>
          <p:cNvPr id="11" name="Rounded Rectangle 10"/>
          <p:cNvSpPr/>
          <p:nvPr/>
        </p:nvSpPr>
        <p:spPr>
          <a:xfrm>
            <a:off x="5943600" y="393192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078224"/>
            <a:ext cx="5029200" cy="320040"/>
          </a:xfrm>
          <a:prstGeom prst="rect">
            <a:avLst/>
          </a:prstGeom>
          <a:noFill/>
        </p:spPr>
        <p:txBody>
          <a:bodyPr wrap="square" lIns="0" rIns="0" tIns="0" bIns="0">
            <a:spAutoFit/>
          </a:bodyPr>
          <a:lstStyle/>
          <a:p>
            <a:pPr>
              <a:defRPr sz="1100" b="1">
                <a:solidFill>
                  <a:srgbClr val="0F172A"/>
                </a:solidFill>
                <a:latin typeface="Segoe UI"/>
              </a:defRPr>
            </a:pPr>
            <a:r>
              <a:t>Real Replication Parity &amp; 0s Lag</a:t>
            </a:r>
          </a:p>
          <a:p>
            <a:pPr>
              <a:spcBef>
                <a:spcPts val="100"/>
              </a:spcBef>
              <a:defRPr sz="850">
                <a:solidFill>
                  <a:srgbClr val="64748B"/>
                </a:solidFill>
                <a:latin typeface="Segoe UI"/>
              </a:defRPr>
            </a:pPr>
            <a:r>
              <a:t>Authentic terminal showing document counts matched across all 3 members.</a:t>
            </a:r>
          </a:p>
        </p:txBody>
      </p:sp>
      <p:pic>
        <p:nvPicPr>
          <p:cNvPr id="13" name="Picture 12" descr="B2-replication-counts.png"/>
          <p:cNvPicPr>
            <a:picLocks noChangeAspect="1"/>
          </p:cNvPicPr>
          <p:nvPr/>
        </p:nvPicPr>
        <p:blipFill>
          <a:blip r:embed="rId3"/>
          <a:stretch>
            <a:fillRect/>
          </a:stretch>
        </p:blipFill>
        <p:spPr>
          <a:xfrm>
            <a:off x="7093712" y="4480560"/>
            <a:ext cx="3186176" cy="17922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RESILIENCE TESTING</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Empirical Failover &amp; Quorum Resilience</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09 / 15</a:t>
            </a:r>
          </a:p>
        </p:txBody>
      </p:sp>
      <p:sp>
        <p:nvSpPr>
          <p:cNvPr id="6" name="Rounded Rectangle 5"/>
          <p:cNvSpPr/>
          <p:nvPr/>
        </p:nvSpPr>
        <p:spPr>
          <a:xfrm>
            <a:off x="731520" y="1325880"/>
            <a:ext cx="502920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90472"/>
            <a:ext cx="4572000" cy="2093976"/>
          </a:xfrm>
          <a:prstGeom prst="rect">
            <a:avLst/>
          </a:prstGeom>
          <a:noFill/>
        </p:spPr>
        <p:txBody>
          <a:bodyPr wrap="square" lIns="36576" rIns="36576" tIns="36576" bIns="36576">
            <a:spAutoFit/>
          </a:bodyPr>
          <a:lstStyle/>
          <a:p>
            <a:pPr>
              <a:defRPr sz="1200" b="1">
                <a:solidFill>
                  <a:srgbClr val="0284C7"/>
                </a:solidFill>
                <a:latin typeface="Segoe UI"/>
              </a:defRPr>
            </a:pPr>
            <a:r>
              <a:t>Test 1: Graceful Step-Down (rs.stepDown())</a:t>
            </a:r>
          </a:p>
          <a:p>
            <a:pPr>
              <a:spcBef>
                <a:spcPts val="200"/>
              </a:spcBef>
            </a:pPr>
            <a:r>
              <a:rPr b="1" sz="900"/>
              <a:t>• Mechanism: </a:t>
            </a:r>
            <a:r>
              <a:rPr sz="900"/>
              <a:t>Primary relinquishes leadership cooperatively.</a:t>
            </a:r>
          </a:p>
          <a:p>
            <a:pPr>
              <a:spcBef>
                <a:spcPts val="200"/>
              </a:spcBef>
            </a:pPr>
            <a:r>
              <a:rPr b="1" sz="900"/>
              <a:t>• Longest Write Pause: </a:t>
            </a:r>
            <a:r>
              <a:rPr sz="900"/>
              <a:t>0.62 seconds (619 ms).</a:t>
            </a:r>
          </a:p>
          <a:p>
            <a:pPr>
              <a:spcBef>
                <a:spcPts val="200"/>
              </a:spcBef>
            </a:pPr>
            <a:r>
              <a:rPr b="1" sz="900"/>
              <a:t>• Write Acknowledgement: </a:t>
            </a:r>
            <a:r>
              <a:rPr sz="900"/>
              <a:t>19 of 19 probe writes acknowledged (100%).</a:t>
            </a:r>
          </a:p>
          <a:p>
            <a:pPr>
              <a:spcBef>
                <a:spcPts val="200"/>
              </a:spcBef>
            </a:pPr>
            <a:r>
              <a:rPr b="1" sz="900"/>
              <a:t>• Post-Recovery Parity: </a:t>
            </a:r>
            <a:r>
              <a:rPr sz="900"/>
              <a:t>19 of 19 writes verified present in database.</a:t>
            </a:r>
          </a:p>
          <a:p>
            <a:pPr>
              <a:spcBef>
                <a:spcPts val="200"/>
              </a:spcBef>
            </a:pPr>
            <a:r>
              <a:rPr b="1" sz="900"/>
              <a:t>• Durability Verdict: </a:t>
            </a:r>
            <a:r>
              <a:rPr sz="900"/>
              <a:t>ZERO lost writes across election transition.</a:t>
            </a:r>
          </a:p>
        </p:txBody>
      </p:sp>
      <p:sp>
        <p:nvSpPr>
          <p:cNvPr id="8" name="Rounded Rectangle 7"/>
          <p:cNvSpPr/>
          <p:nvPr/>
        </p:nvSpPr>
        <p:spPr>
          <a:xfrm>
            <a:off x="731520" y="3886200"/>
            <a:ext cx="502920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050792"/>
            <a:ext cx="4572000" cy="2185416"/>
          </a:xfrm>
          <a:prstGeom prst="rect">
            <a:avLst/>
          </a:prstGeom>
          <a:noFill/>
        </p:spPr>
        <p:txBody>
          <a:bodyPr wrap="square" lIns="36576" rIns="36576" tIns="36576" bIns="36576">
            <a:spAutoFit/>
          </a:bodyPr>
          <a:lstStyle/>
          <a:p>
            <a:pPr>
              <a:defRPr sz="1200" b="1">
                <a:solidFill>
                  <a:srgbClr val="D97706"/>
                </a:solidFill>
                <a:latin typeface="Segoe UI"/>
              </a:defRPr>
            </a:pPr>
            <a:r>
              <a:t>Test 2: Quorum Loss &amp; Crash Resilience (kill -9)</a:t>
            </a:r>
          </a:p>
          <a:p>
            <a:pPr>
              <a:spcBef>
                <a:spcPts val="200"/>
              </a:spcBef>
            </a:pPr>
            <a:r>
              <a:rPr b="1" sz="900"/>
              <a:t>• Quorum Loss Test: </a:t>
            </a:r>
            <a:r>
              <a:rPr sz="900"/>
              <a:t>Stopping 2 nodes returned error 64 (WriteConcernTimeout).</a:t>
            </a:r>
          </a:p>
          <a:p>
            <a:pPr>
              <a:spcBef>
                <a:spcPts val="200"/>
              </a:spcBef>
            </a:pPr>
            <a:r>
              <a:rPr b="1" sz="900"/>
              <a:t>• Abrupt Primary Kill: </a:t>
            </a:r>
            <a:r>
              <a:rPr sz="900"/>
              <a:t>Primary process terminated with SIGKILL (kill -9).</a:t>
            </a:r>
          </a:p>
          <a:p>
            <a:pPr>
              <a:spcBef>
                <a:spcPts val="200"/>
              </a:spcBef>
            </a:pPr>
            <a:r>
              <a:rPr b="1" sz="900"/>
              <a:t>• Election Detection: </a:t>
            </a:r>
            <a:r>
              <a:rPr sz="900"/>
              <a:t>Secondaries waited 10s electionTimeout threshold.</a:t>
            </a:r>
          </a:p>
          <a:p>
            <a:pPr>
              <a:spcBef>
                <a:spcPts val="200"/>
              </a:spcBef>
            </a:pPr>
            <a:r>
              <a:rPr b="1" sz="900"/>
              <a:t>• Longest Write Pause: </a:t>
            </a:r>
            <a:r>
              <a:rPr sz="900"/>
              <a:t>11.48 seconds (11,483 ms).</a:t>
            </a:r>
          </a:p>
          <a:p>
            <a:pPr>
              <a:spcBef>
                <a:spcPts val="200"/>
              </a:spcBef>
            </a:pPr>
            <a:r>
              <a:rPr b="1" sz="900"/>
              <a:t>• Durability Guarantee: </a:t>
            </a:r>
            <a:r>
              <a:rPr sz="900"/>
              <a:t>All 67 acknowledged writes present after recovery (0 lost writes).</a:t>
            </a:r>
          </a:p>
        </p:txBody>
      </p:sp>
      <p:sp>
        <p:nvSpPr>
          <p:cNvPr id="10" name="Rounded Rectangle 9"/>
          <p:cNvSpPr/>
          <p:nvPr/>
        </p:nvSpPr>
        <p:spPr>
          <a:xfrm>
            <a:off x="5943600" y="132588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472184"/>
            <a:ext cx="5029200" cy="320040"/>
          </a:xfrm>
          <a:prstGeom prst="rect">
            <a:avLst/>
          </a:prstGeom>
          <a:noFill/>
        </p:spPr>
        <p:txBody>
          <a:bodyPr wrap="square" lIns="0" rIns="0" tIns="0" bIns="0">
            <a:spAutoFit/>
          </a:bodyPr>
          <a:lstStyle/>
          <a:p>
            <a:pPr>
              <a:defRPr sz="1100" b="1">
                <a:solidFill>
                  <a:srgbClr val="0F172A"/>
                </a:solidFill>
                <a:latin typeface="Segoe UI"/>
              </a:defRPr>
            </a:pPr>
            <a:r>
              <a:t>React Dashboard: Real Cluster Failover Diagnostics (E2)</a:t>
            </a:r>
          </a:p>
          <a:p>
            <a:pPr>
              <a:spcBef>
                <a:spcPts val="100"/>
              </a:spcBef>
              <a:defRPr sz="850">
                <a:solidFill>
                  <a:srgbClr val="64748B"/>
                </a:solidFill>
                <a:latin typeface="Segoe UI"/>
              </a:defRPr>
            </a:pPr>
            <a:r>
              <a:t>Live topology view showing PRIMARY/SECONDARY member health and failover monitoring.</a:t>
            </a:r>
          </a:p>
        </p:txBody>
      </p:sp>
      <p:pic>
        <p:nvPicPr>
          <p:cNvPr id="12" name="Picture 11" descr="E2-cluster-page.png"/>
          <p:cNvPicPr>
            <a:picLocks noChangeAspect="1"/>
          </p:cNvPicPr>
          <p:nvPr/>
        </p:nvPicPr>
        <p:blipFill>
          <a:blip r:embed="rId2"/>
          <a:stretch>
            <a:fillRect/>
          </a:stretch>
        </p:blipFill>
        <p:spPr>
          <a:xfrm>
            <a:off x="6144768" y="1876948"/>
            <a:ext cx="5084064" cy="1787366"/>
          </a:xfrm>
          <a:prstGeom prst="rect">
            <a:avLst/>
          </a:prstGeom>
        </p:spPr>
      </p:pic>
      <p:sp>
        <p:nvSpPr>
          <p:cNvPr id="13" name="Rounded Rectangle 12"/>
          <p:cNvSpPr/>
          <p:nvPr/>
        </p:nvSpPr>
        <p:spPr>
          <a:xfrm>
            <a:off x="5943600" y="393192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4078224"/>
            <a:ext cx="5029200" cy="320040"/>
          </a:xfrm>
          <a:prstGeom prst="rect">
            <a:avLst/>
          </a:prstGeom>
          <a:noFill/>
        </p:spPr>
        <p:txBody>
          <a:bodyPr wrap="square" lIns="0" rIns="0" tIns="0" bIns="0">
            <a:spAutoFit/>
          </a:bodyPr>
          <a:lstStyle/>
          <a:p>
            <a:pPr>
              <a:defRPr sz="1100" b="1">
                <a:solidFill>
                  <a:srgbClr val="0F172A"/>
                </a:solidFill>
                <a:latin typeface="Segoe UI"/>
              </a:defRPr>
            </a:pPr>
            <a:r>
              <a:t>Terminal Screenshot: Real Quorum Loss Test (E3)</a:t>
            </a:r>
          </a:p>
          <a:p>
            <a:pPr>
              <a:spcBef>
                <a:spcPts val="100"/>
              </a:spcBef>
              <a:defRPr sz="850">
                <a:solidFill>
                  <a:srgbClr val="64748B"/>
                </a:solidFill>
                <a:latin typeface="Segoe UI"/>
              </a:defRPr>
            </a:pPr>
            <a:r>
              <a:t>Authentic terminal showing Error 64 (WriteConcernTimeout) when quorum is lost.</a:t>
            </a:r>
          </a:p>
        </p:txBody>
      </p:sp>
      <p:pic>
        <p:nvPicPr>
          <p:cNvPr id="15" name="Picture 14" descr="E3-quorum.png"/>
          <p:cNvPicPr>
            <a:picLocks noChangeAspect="1"/>
          </p:cNvPicPr>
          <p:nvPr/>
        </p:nvPicPr>
        <p:blipFill>
          <a:blip r:embed="rId3"/>
          <a:stretch>
            <a:fillRect/>
          </a:stretch>
        </p:blipFill>
        <p:spPr>
          <a:xfrm>
            <a:off x="6144768" y="4842944"/>
            <a:ext cx="5084064" cy="106745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FAULT TOLERANCE</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Data Integrity, Idempotency &amp; Disaster Recovery</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10 / 15</a:t>
            </a:r>
          </a:p>
        </p:txBody>
      </p:sp>
      <p:sp>
        <p:nvSpPr>
          <p:cNvPr id="6" name="Rounded Rectangle 5"/>
          <p:cNvSpPr/>
          <p:nvPr/>
        </p:nvSpPr>
        <p:spPr>
          <a:xfrm>
            <a:off x="731520" y="1325880"/>
            <a:ext cx="502920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480560" cy="4617720"/>
          </a:xfrm>
          <a:prstGeom prst="rect">
            <a:avLst/>
          </a:prstGeom>
          <a:noFill/>
        </p:spPr>
        <p:txBody>
          <a:bodyPr wrap="square" lIns="36576" rIns="36576" tIns="36576" bIns="36576">
            <a:spAutoFit/>
          </a:bodyPr>
          <a:lstStyle/>
          <a:p>
            <a:pPr>
              <a:defRPr sz="1400" b="1">
                <a:solidFill>
                  <a:srgbClr val="0F172A"/>
                </a:solidFill>
                <a:latin typeface="Segoe UI"/>
              </a:defRPr>
            </a:pPr>
            <a:r>
              <a:t>Idempotency &amp; Closed-Loop Control</a:t>
            </a:r>
          </a:p>
          <a:p>
            <a:pPr>
              <a:spcBef>
                <a:spcPts val="400"/>
              </a:spcBef>
            </a:pPr>
            <a:r>
              <a:rPr b="1" sz="950">
                <a:solidFill>
                  <a:srgbClr val="0D9488"/>
                </a:solidFill>
              </a:rPr>
              <a:t>• MQTT QoS 1 Idempotency: </a:t>
            </a:r>
            <a:r>
              <a:rPr sz="880">
                <a:solidFill>
                  <a:srgbClr val="334155"/>
                </a:solidFill>
              </a:rPr>
              <a:t>MQTT delivers 'at-least-once', risking duplicate messages upon reconnect. A unique compound index on (device_id, timestamp) traps duplicate inserts (Mongo Error 11000) and discards them safely, achieving effectively-once storage.</a:t>
            </a:r>
          </a:p>
          <a:p>
            <a:pPr>
              <a:spcBef>
                <a:spcPts val="400"/>
              </a:spcBef>
            </a:pPr>
            <a:r>
              <a:rPr b="1" sz="950">
                <a:solidFill>
                  <a:srgbClr val="0D9488"/>
                </a:solidFill>
              </a:rPr>
              <a:t>• Dual-Threshold Hysteresis: </a:t>
            </a:r>
            <a:r>
              <a:rPr sz="880">
                <a:solidFill>
                  <a:srgbClr val="334155"/>
                </a:solidFill>
              </a:rPr>
              <a:t>Prevents rapid relay chattering and actuator wear:</a:t>
            </a:r>
          </a:p>
          <a:p>
            <a:pPr>
              <a:spcBef>
                <a:spcPts val="400"/>
              </a:spcBef>
            </a:pPr>
            <a:r>
              <a:rPr b="1" sz="950">
                <a:solidFill>
                  <a:srgbClr val="0D9488"/>
                </a:solidFill>
              </a:rPr>
              <a:t>•   • Inlet Valve: </a:t>
            </a:r>
            <a:r>
              <a:rPr sz="880">
                <a:solidFill>
                  <a:srgbClr val="334155"/>
                </a:solidFill>
              </a:rPr>
              <a:t>Opens at &lt;40% (low level), closes at &gt;85% (overflow prevention).</a:t>
            </a:r>
          </a:p>
          <a:p>
            <a:pPr>
              <a:spcBef>
                <a:spcPts val="400"/>
              </a:spcBef>
            </a:pPr>
            <a:r>
              <a:rPr b="1" sz="950">
                <a:solidFill>
                  <a:srgbClr val="0D9488"/>
                </a:solidFill>
              </a:rPr>
              <a:t>•   • Booster Pump: </a:t>
            </a:r>
            <a:r>
              <a:rPr sz="880">
                <a:solidFill>
                  <a:srgbClr val="334155"/>
                </a:solidFill>
              </a:rPr>
              <a:t>Stops at &lt;=25% (dry-run cavitation protection), resumes only at &gt;35%.</a:t>
            </a:r>
          </a:p>
          <a:p>
            <a:pPr>
              <a:spcBef>
                <a:spcPts val="400"/>
              </a:spcBef>
            </a:pPr>
            <a:r>
              <a:rPr b="1" sz="950">
                <a:solidFill>
                  <a:srgbClr val="0D9488"/>
                </a:solidFill>
              </a:rPr>
              <a:t>• Dead-Letter Queue (DLQ): </a:t>
            </a:r>
            <a:r>
              <a:rPr sz="880">
                <a:solidFill>
                  <a:srgbClr val="334155"/>
                </a:solidFill>
              </a:rPr>
              <a:t>Malformed payloads fail $jsonSchema validation and are routed to rejected_messages with error diagnostics instead of silent drops.</a:t>
            </a:r>
          </a:p>
        </p:txBody>
      </p:sp>
      <p:sp>
        <p:nvSpPr>
          <p:cNvPr id="8" name="Rounded Rectangle 7"/>
          <p:cNvSpPr/>
          <p:nvPr/>
        </p:nvSpPr>
        <p:spPr>
          <a:xfrm>
            <a:off x="5943600" y="132588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472184"/>
            <a:ext cx="5029200" cy="320040"/>
          </a:xfrm>
          <a:prstGeom prst="rect">
            <a:avLst/>
          </a:prstGeom>
          <a:noFill/>
        </p:spPr>
        <p:txBody>
          <a:bodyPr wrap="square" lIns="0" rIns="0" tIns="0" bIns="0">
            <a:spAutoFit/>
          </a:bodyPr>
          <a:lstStyle/>
          <a:p>
            <a:pPr>
              <a:defRPr sz="1100" b="1">
                <a:solidFill>
                  <a:srgbClr val="0F172A"/>
                </a:solidFill>
                <a:latin typeface="Segoe UI"/>
              </a:defRPr>
            </a:pPr>
            <a:r>
              <a:t>Terminal Screenshot: Real Telemetry API Verification (C1)</a:t>
            </a:r>
          </a:p>
          <a:p>
            <a:pPr>
              <a:spcBef>
                <a:spcPts val="100"/>
              </a:spcBef>
              <a:defRPr sz="850">
                <a:solidFill>
                  <a:srgbClr val="64748B"/>
                </a:solidFill>
                <a:latin typeface="Segoe UI"/>
              </a:defRPr>
            </a:pPr>
            <a:r>
              <a:t>Paginated telemetry history query returning HTTP 200 with stored document integrity.</a:t>
            </a:r>
          </a:p>
        </p:txBody>
      </p:sp>
      <p:pic>
        <p:nvPicPr>
          <p:cNvPr id="10" name="Picture 9" descr="C1-api-success.png"/>
          <p:cNvPicPr>
            <a:picLocks noChangeAspect="1"/>
          </p:cNvPicPr>
          <p:nvPr/>
        </p:nvPicPr>
        <p:blipFill>
          <a:blip r:embed="rId2"/>
          <a:stretch>
            <a:fillRect/>
          </a:stretch>
        </p:blipFill>
        <p:spPr>
          <a:xfrm>
            <a:off x="6144768" y="2001071"/>
            <a:ext cx="5084064" cy="1539120"/>
          </a:xfrm>
          <a:prstGeom prst="rect">
            <a:avLst/>
          </a:prstGeom>
        </p:spPr>
      </p:pic>
      <p:sp>
        <p:nvSpPr>
          <p:cNvPr id="11" name="Rounded Rectangle 10"/>
          <p:cNvSpPr/>
          <p:nvPr/>
        </p:nvSpPr>
        <p:spPr>
          <a:xfrm>
            <a:off x="5943600" y="393192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078224"/>
            <a:ext cx="5029200" cy="320040"/>
          </a:xfrm>
          <a:prstGeom prst="rect">
            <a:avLst/>
          </a:prstGeom>
          <a:noFill/>
        </p:spPr>
        <p:txBody>
          <a:bodyPr wrap="square" lIns="0" rIns="0" tIns="0" bIns="0">
            <a:spAutoFit/>
          </a:bodyPr>
          <a:lstStyle/>
          <a:p>
            <a:pPr>
              <a:defRPr sz="1100" b="1">
                <a:solidFill>
                  <a:srgbClr val="0F172A"/>
                </a:solidFill>
                <a:latin typeface="Segoe UI"/>
              </a:defRPr>
            </a:pPr>
            <a:r>
              <a:t>Terminal Screenshot: Real Backup &amp; Restore Parity (E4)</a:t>
            </a:r>
          </a:p>
          <a:p>
            <a:pPr>
              <a:spcBef>
                <a:spcPts val="100"/>
              </a:spcBef>
              <a:defRPr sz="850">
                <a:solidFill>
                  <a:srgbClr val="64748B"/>
                </a:solidFill>
                <a:latin typeface="Segoe UI"/>
              </a:defRPr>
            </a:pPr>
            <a:r>
              <a:t>mongodump in 1.08s; mongorestore in 5.48s with 100% document count parity.</a:t>
            </a:r>
          </a:p>
        </p:txBody>
      </p:sp>
      <p:pic>
        <p:nvPicPr>
          <p:cNvPr id="13" name="Picture 12" descr="E4-backup-restore.png"/>
          <p:cNvPicPr>
            <a:picLocks noChangeAspect="1"/>
          </p:cNvPicPr>
          <p:nvPr/>
        </p:nvPicPr>
        <p:blipFill>
          <a:blip r:embed="rId3"/>
          <a:stretch>
            <a:fillRect/>
          </a:stretch>
        </p:blipFill>
        <p:spPr>
          <a:xfrm>
            <a:off x="7093712" y="4480560"/>
            <a:ext cx="3186176" cy="179222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INTEGRATION &amp; SECURITY</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RESTful API Implementation &amp; Security Model</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11 / 15</a:t>
            </a:r>
          </a:p>
        </p:txBody>
      </p:sp>
      <p:sp>
        <p:nvSpPr>
          <p:cNvPr id="6" name="Rounded Rectangle 5"/>
          <p:cNvSpPr/>
          <p:nvPr/>
        </p:nvSpPr>
        <p:spPr>
          <a:xfrm>
            <a:off x="731520" y="1325880"/>
            <a:ext cx="502920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480560" cy="4617720"/>
          </a:xfrm>
          <a:prstGeom prst="rect">
            <a:avLst/>
          </a:prstGeom>
          <a:noFill/>
        </p:spPr>
        <p:txBody>
          <a:bodyPr wrap="square" lIns="36576" rIns="36576" tIns="36576" bIns="36576">
            <a:spAutoFit/>
          </a:bodyPr>
          <a:lstStyle/>
          <a:p>
            <a:pPr>
              <a:defRPr sz="1400" b="1">
                <a:solidFill>
                  <a:srgbClr val="0F172A"/>
                </a:solidFill>
                <a:latin typeface="Segoe UI"/>
              </a:defRPr>
            </a:pPr>
            <a:r>
              <a:t>REST API Architecture &amp; Authentication</a:t>
            </a:r>
          </a:p>
          <a:p>
            <a:pPr>
              <a:spcBef>
                <a:spcPts val="500"/>
              </a:spcBef>
            </a:pPr>
            <a:r>
              <a:rPr b="1" sz="950">
                <a:solidFill>
                  <a:srgbClr val="0284C7"/>
                </a:solidFill>
              </a:rPr>
              <a:t>• OpenAPI 3.0 / Swagger UI: </a:t>
            </a:r>
            <a:r>
              <a:rPr sz="880">
                <a:solidFill>
                  <a:srgbClr val="334155"/>
                </a:solidFill>
              </a:rPr>
              <a:t>Interactive documentation hosted at /api-docs exposing all CRUD routes.</a:t>
            </a:r>
          </a:p>
          <a:p>
            <a:pPr>
              <a:spcBef>
                <a:spcPts val="500"/>
              </a:spcBef>
            </a:pPr>
            <a:r>
              <a:rPr b="1" sz="950">
                <a:solidFill>
                  <a:srgbClr val="0284C7"/>
                </a:solidFill>
              </a:rPr>
              <a:t>• Full CRUD Operations: </a:t>
            </a:r>
            <a:r>
              <a:rPr sz="880">
                <a:solidFill>
                  <a:srgbClr val="334155"/>
                </a:solidFill>
              </a:rPr>
              <a:t>Create, Read, Update, Delete verified across homes, devices, telemetry, and alert acknowledgements.</a:t>
            </a:r>
          </a:p>
          <a:p>
            <a:pPr>
              <a:spcBef>
                <a:spcPts val="500"/>
              </a:spcBef>
            </a:pPr>
            <a:r>
              <a:rPr b="1" sz="950">
                <a:solidFill>
                  <a:srgbClr val="0284C7"/>
                </a:solidFill>
              </a:rPr>
              <a:t>• Security &amp; Authorization: </a:t>
            </a:r>
            <a:r>
              <a:rPr sz="880">
                <a:solidFill>
                  <a:srgbClr val="334155"/>
                </a:solidFill>
              </a:rPr>
              <a:t>Mutating endpoints (POST, PATCH, DELETE) require an X-API-Key header. Requests lacking valid keys are rejected immediately with HTTP 401 Unauthorized.</a:t>
            </a:r>
          </a:p>
          <a:p>
            <a:pPr>
              <a:spcBef>
                <a:spcPts val="500"/>
              </a:spcBef>
            </a:pPr>
            <a:r>
              <a:rPr b="1" sz="950">
                <a:solidFill>
                  <a:srgbClr val="0284C7"/>
                </a:solidFill>
              </a:rPr>
              <a:t>• Read/Write Preference Split: </a:t>
            </a:r>
            <a:r>
              <a:rPr sz="880">
                <a:solidFill>
                  <a:srgbClr val="334155"/>
                </a:solidFill>
              </a:rPr>
              <a:t>API routes writes to Primary (majority concern); historical/analytical reads use secondaryPreferred to prevent reporting spikes from impacting ingestion.</a:t>
            </a:r>
          </a:p>
          <a:p>
            <a:pPr>
              <a:spcBef>
                <a:spcPts val="500"/>
              </a:spcBef>
            </a:pPr>
            <a:r>
              <a:rPr b="1" sz="950">
                <a:solidFill>
                  <a:srgbClr val="0284C7"/>
                </a:solidFill>
              </a:rPr>
              <a:t>• Paginated Queries: </a:t>
            </a:r>
            <a:r>
              <a:rPr sz="880">
                <a:solidFill>
                  <a:srgbClr val="334155"/>
                </a:solidFill>
              </a:rPr>
              <a:t>Telemetry history endpoints utilize cursor pagination to avoid memory bloat and enforce low latencies.</a:t>
            </a:r>
          </a:p>
        </p:txBody>
      </p:sp>
      <p:sp>
        <p:nvSpPr>
          <p:cNvPr id="8" name="Rounded Rectangle 7"/>
          <p:cNvSpPr/>
          <p:nvPr/>
        </p:nvSpPr>
        <p:spPr>
          <a:xfrm>
            <a:off x="5943600" y="1325880"/>
            <a:ext cx="548640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472184"/>
            <a:ext cx="5029200" cy="320040"/>
          </a:xfrm>
          <a:prstGeom prst="rect">
            <a:avLst/>
          </a:prstGeom>
          <a:noFill/>
        </p:spPr>
        <p:txBody>
          <a:bodyPr wrap="square" lIns="0" rIns="0" tIns="0" bIns="0">
            <a:spAutoFit/>
          </a:bodyPr>
          <a:lstStyle/>
          <a:p>
            <a:pPr>
              <a:defRPr sz="1100" b="1">
                <a:solidFill>
                  <a:srgbClr val="0F172A"/>
                </a:solidFill>
                <a:latin typeface="Segoe UI"/>
              </a:defRPr>
            </a:pPr>
            <a:r>
              <a:t>Swagger UI: Real Interactive API Contract (/api-docs)</a:t>
            </a:r>
          </a:p>
          <a:p>
            <a:pPr>
              <a:spcBef>
                <a:spcPts val="100"/>
              </a:spcBef>
              <a:defRPr sz="850">
                <a:solidFill>
                  <a:srgbClr val="64748B"/>
                </a:solidFill>
                <a:latin typeface="Segoe UI"/>
              </a:defRPr>
            </a:pPr>
            <a:r>
              <a:t>OpenAPI 3.0 schema documentation and interactive test harness.</a:t>
            </a:r>
          </a:p>
        </p:txBody>
      </p:sp>
      <p:pic>
        <p:nvPicPr>
          <p:cNvPr id="10" name="Picture 9" descr="05-swagger.png"/>
          <p:cNvPicPr>
            <a:picLocks noChangeAspect="1"/>
          </p:cNvPicPr>
          <p:nvPr/>
        </p:nvPicPr>
        <p:blipFill>
          <a:blip r:embed="rId2"/>
          <a:stretch>
            <a:fillRect/>
          </a:stretch>
        </p:blipFill>
        <p:spPr>
          <a:xfrm>
            <a:off x="6990066" y="1874520"/>
            <a:ext cx="3393467" cy="1975104"/>
          </a:xfrm>
          <a:prstGeom prst="rect">
            <a:avLst/>
          </a:prstGeom>
        </p:spPr>
      </p:pic>
      <p:sp>
        <p:nvSpPr>
          <p:cNvPr id="11" name="Rounded Rectangle 10"/>
          <p:cNvSpPr/>
          <p:nvPr/>
        </p:nvSpPr>
        <p:spPr>
          <a:xfrm>
            <a:off x="5943600" y="4114800"/>
            <a:ext cx="548640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261104"/>
            <a:ext cx="5029200" cy="320040"/>
          </a:xfrm>
          <a:prstGeom prst="rect">
            <a:avLst/>
          </a:prstGeom>
          <a:noFill/>
        </p:spPr>
        <p:txBody>
          <a:bodyPr wrap="square" lIns="0" rIns="0" tIns="0" bIns="0">
            <a:spAutoFit/>
          </a:bodyPr>
          <a:lstStyle/>
          <a:p>
            <a:pPr>
              <a:defRPr sz="1100" b="1">
                <a:solidFill>
                  <a:srgbClr val="0F172A"/>
                </a:solidFill>
                <a:latin typeface="Segoe UI"/>
              </a:defRPr>
            </a:pPr>
            <a:r>
              <a:t>Terminal Screenshot: Real 401 Unauthorized Test (E5)</a:t>
            </a:r>
          </a:p>
          <a:p>
            <a:pPr>
              <a:spcBef>
                <a:spcPts val="100"/>
              </a:spcBef>
              <a:defRPr sz="850">
                <a:solidFill>
                  <a:srgbClr val="64748B"/>
                </a:solidFill>
                <a:latin typeface="Segoe UI"/>
              </a:defRPr>
            </a:pPr>
            <a:r>
              <a:t>Enforcement of X-API-Key header: unauthenticated requests blocked with HTTP 401.</a:t>
            </a:r>
          </a:p>
        </p:txBody>
      </p:sp>
      <p:pic>
        <p:nvPicPr>
          <p:cNvPr id="13" name="Picture 12" descr="E5-security-state.png"/>
          <p:cNvPicPr>
            <a:picLocks noChangeAspect="1"/>
          </p:cNvPicPr>
          <p:nvPr/>
        </p:nvPicPr>
        <p:blipFill>
          <a:blip r:embed="rId3"/>
          <a:stretch>
            <a:fillRect/>
          </a:stretch>
        </p:blipFill>
        <p:spPr>
          <a:xfrm>
            <a:off x="6724933" y="4663440"/>
            <a:ext cx="3923733" cy="160934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ANALYTICS &amp; FRONTEND</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Water Intelligence &amp; Real-Time React Dashboard</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12 / 15</a:t>
            </a:r>
          </a:p>
        </p:txBody>
      </p:sp>
      <p:sp>
        <p:nvSpPr>
          <p:cNvPr id="6" name="Rounded Rectangle 5"/>
          <p:cNvSpPr/>
          <p:nvPr/>
        </p:nvSpPr>
        <p:spPr>
          <a:xfrm>
            <a:off x="731520" y="1325880"/>
            <a:ext cx="502920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480560" cy="4617720"/>
          </a:xfrm>
          <a:prstGeom prst="rect">
            <a:avLst/>
          </a:prstGeom>
          <a:noFill/>
        </p:spPr>
        <p:txBody>
          <a:bodyPr wrap="square" lIns="36576" rIns="36576" tIns="36576" bIns="36576">
            <a:spAutoFit/>
          </a:bodyPr>
          <a:lstStyle/>
          <a:p>
            <a:pPr>
              <a:defRPr sz="1400" b="1">
                <a:solidFill>
                  <a:srgbClr val="0F172A"/>
                </a:solidFill>
                <a:latin typeface="Segoe UI"/>
              </a:defRPr>
            </a:pPr>
            <a:r>
              <a:t>In-Database Water Intelligence Features</a:t>
            </a:r>
          </a:p>
          <a:p>
            <a:pPr>
              <a:spcBef>
                <a:spcPts val="500"/>
              </a:spcBef>
            </a:pPr>
            <a:r>
              <a:rPr b="1" sz="950">
                <a:solidFill>
                  <a:srgbClr val="0D9488"/>
                </a:solidFill>
              </a:rPr>
              <a:t>• In-Database Aggregations: </a:t>
            </a:r>
            <a:r>
              <a:rPr sz="880">
                <a:solidFill>
                  <a:srgbClr val="334155"/>
                </a:solidFill>
              </a:rPr>
              <a:t>Uses $match, $dateTrunc, and $setWindowFields directly in MongoDB to calculate daily volume consumption deltas without transferring tens of thousands of raw documents to application memory.</a:t>
            </a:r>
          </a:p>
          <a:p>
            <a:pPr>
              <a:spcBef>
                <a:spcPts val="500"/>
              </a:spcBef>
            </a:pPr>
            <a:r>
              <a:rPr b="1" sz="950">
                <a:solidFill>
                  <a:srgbClr val="0D9488"/>
                </a:solidFill>
              </a:rPr>
              <a:t>• Overnight Slow Leak Detection: </a:t>
            </a:r>
            <a:r>
              <a:rPr sz="880">
                <a:solidFill>
                  <a:srgbClr val="334155"/>
                </a:solidFill>
              </a:rPr>
              <a:t>Heuristic monitors quiet hours (01:00–05:00 UTC). If volume drops &gt;=1.5% (30L) across 3 consecutive readings while pump and inlet are idle, a high-severity leak alert is triggered with a 4-hour cooldown.</a:t>
            </a:r>
          </a:p>
          <a:p>
            <a:pPr>
              <a:spcBef>
                <a:spcPts val="500"/>
              </a:spcBef>
            </a:pPr>
            <a:r>
              <a:rPr b="1" sz="950">
                <a:solidFill>
                  <a:srgbClr val="0D9488"/>
                </a:solidFill>
              </a:rPr>
              <a:t>• Dynamic Depletion Forecasting: </a:t>
            </a:r>
            <a:r>
              <a:rPr sz="880">
                <a:solidFill>
                  <a:srgbClr val="334155"/>
                </a:solidFill>
              </a:rPr>
              <a:t>Computes trailing drain rate to project estimated hours remaining until the critical 25% dry-run cutoff.</a:t>
            </a:r>
          </a:p>
          <a:p>
            <a:pPr>
              <a:spcBef>
                <a:spcPts val="500"/>
              </a:spcBef>
            </a:pPr>
            <a:r>
              <a:rPr b="1" sz="950">
                <a:solidFill>
                  <a:srgbClr val="0D9488"/>
                </a:solidFill>
              </a:rPr>
              <a:t>• React 18 Operator Interface: </a:t>
            </a:r>
            <a:r>
              <a:rPr sz="880">
                <a:solidFill>
                  <a:srgbClr val="334155"/>
                </a:solidFill>
              </a:rPr>
              <a:t>Real-time Vite dashboard polling every 2s, displaying live tank levels, gauge animations, consumption graphs, and cluster topology.</a:t>
            </a:r>
          </a:p>
        </p:txBody>
      </p:sp>
      <p:sp>
        <p:nvSpPr>
          <p:cNvPr id="8" name="Rounded Rectangle 7"/>
          <p:cNvSpPr/>
          <p:nvPr/>
        </p:nvSpPr>
        <p:spPr>
          <a:xfrm>
            <a:off x="5943600" y="132588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472184"/>
            <a:ext cx="5029200" cy="320040"/>
          </a:xfrm>
          <a:prstGeom prst="rect">
            <a:avLst/>
          </a:prstGeom>
          <a:noFill/>
        </p:spPr>
        <p:txBody>
          <a:bodyPr wrap="square" lIns="0" rIns="0" tIns="0" bIns="0">
            <a:spAutoFit/>
          </a:bodyPr>
          <a:lstStyle/>
          <a:p>
            <a:pPr>
              <a:defRPr sz="1100" b="1">
                <a:solidFill>
                  <a:srgbClr val="0F172A"/>
                </a:solidFill>
                <a:latin typeface="Segoe UI"/>
              </a:defRPr>
            </a:pPr>
            <a:r>
              <a:t>Live React Dashboard: Real Water Intelligence</a:t>
            </a:r>
          </a:p>
          <a:p>
            <a:pPr>
              <a:spcBef>
                <a:spcPts val="100"/>
              </a:spcBef>
              <a:defRPr sz="850">
                <a:solidFill>
                  <a:srgbClr val="64748B"/>
                </a:solidFill>
                <a:latin typeface="Segoe UI"/>
              </a:defRPr>
            </a:pPr>
            <a:r>
              <a:t>Live tank level, volume analytics, overnight-loss banner, and consumption trends.</a:t>
            </a:r>
          </a:p>
        </p:txBody>
      </p:sp>
      <p:pic>
        <p:nvPicPr>
          <p:cNvPr id="10" name="Picture 9" descr="06-dashboard.png"/>
          <p:cNvPicPr>
            <a:picLocks noChangeAspect="1"/>
          </p:cNvPicPr>
          <p:nvPr/>
        </p:nvPicPr>
        <p:blipFill>
          <a:blip r:embed="rId2"/>
          <a:stretch>
            <a:fillRect/>
          </a:stretch>
        </p:blipFill>
        <p:spPr>
          <a:xfrm>
            <a:off x="6952171" y="1874520"/>
            <a:ext cx="3469257" cy="1792224"/>
          </a:xfrm>
          <a:prstGeom prst="rect">
            <a:avLst/>
          </a:prstGeom>
        </p:spPr>
      </p:pic>
      <p:sp>
        <p:nvSpPr>
          <p:cNvPr id="11" name="Rounded Rectangle 10"/>
          <p:cNvSpPr/>
          <p:nvPr/>
        </p:nvSpPr>
        <p:spPr>
          <a:xfrm>
            <a:off x="5943600" y="3931920"/>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078224"/>
            <a:ext cx="5029200" cy="320040"/>
          </a:xfrm>
          <a:prstGeom prst="rect">
            <a:avLst/>
          </a:prstGeom>
          <a:noFill/>
        </p:spPr>
        <p:txBody>
          <a:bodyPr wrap="square" lIns="0" rIns="0" tIns="0" bIns="0">
            <a:spAutoFit/>
          </a:bodyPr>
          <a:lstStyle/>
          <a:p>
            <a:pPr>
              <a:defRPr sz="1100" b="1">
                <a:solidFill>
                  <a:srgbClr val="0F172A"/>
                </a:solidFill>
                <a:latin typeface="Segoe UI"/>
              </a:defRPr>
            </a:pPr>
            <a:r>
              <a:t>React Dashboard: Real Cluster Diagnostics (E2)</a:t>
            </a:r>
          </a:p>
          <a:p>
            <a:pPr>
              <a:spcBef>
                <a:spcPts val="100"/>
              </a:spcBef>
              <a:defRPr sz="850">
                <a:solidFill>
                  <a:srgbClr val="64748B"/>
                </a:solidFill>
                <a:latin typeface="Segoe UI"/>
              </a:defRPr>
            </a:pPr>
            <a:r>
              <a:t>Visual node topologies, primary/secondary states, and cluster health monitoring.</a:t>
            </a:r>
          </a:p>
        </p:txBody>
      </p:sp>
      <p:pic>
        <p:nvPicPr>
          <p:cNvPr id="13" name="Picture 12" descr="E2-cluster-page.png"/>
          <p:cNvPicPr>
            <a:picLocks noChangeAspect="1"/>
          </p:cNvPicPr>
          <p:nvPr/>
        </p:nvPicPr>
        <p:blipFill>
          <a:blip r:embed="rId3"/>
          <a:stretch>
            <a:fillRect/>
          </a:stretch>
        </p:blipFill>
        <p:spPr>
          <a:xfrm>
            <a:off x="6144768" y="4482988"/>
            <a:ext cx="5084064" cy="178736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CRITICAL EVALUATION</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Critical Evaluation &amp; Operational Limitations</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13 / 15</a:t>
            </a:r>
          </a:p>
        </p:txBody>
      </p:sp>
      <p:sp>
        <p:nvSpPr>
          <p:cNvPr id="6" name="Rounded Rectangle 5"/>
          <p:cNvSpPr/>
          <p:nvPr/>
        </p:nvSpPr>
        <p:spPr>
          <a:xfrm>
            <a:off x="731520" y="132588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08760"/>
            <a:ext cx="4709160" cy="1691640"/>
          </a:xfrm>
          <a:prstGeom prst="rect">
            <a:avLst/>
          </a:prstGeom>
          <a:noFill/>
        </p:spPr>
        <p:txBody>
          <a:bodyPr wrap="square" lIns="36576" rIns="36576" tIns="36576" bIns="36576">
            <a:spAutoFit/>
          </a:bodyPr>
          <a:lstStyle/>
          <a:p>
            <a:pPr>
              <a:defRPr sz="1200" b="1">
                <a:solidFill>
                  <a:srgbClr val="D97706"/>
                </a:solidFill>
                <a:latin typeface="Segoe UI"/>
              </a:defRPr>
            </a:pPr>
            <a:r>
              <a:t>Single-Host Environment</a:t>
            </a:r>
          </a:p>
          <a:p>
            <a:pPr>
              <a:spcBef>
                <a:spcPts val="400"/>
              </a:spcBef>
              <a:defRPr sz="900">
                <a:solidFill>
                  <a:srgbClr val="334155"/>
                </a:solidFill>
                <a:latin typeface="Segoe UI"/>
              </a:defRPr>
            </a:pPr>
            <a:r>
              <a:t>All 3 mongod daemons ran on a single development machine (ports 27017-27019). While this validates election mechanics and process failure, it does not simulate physical network latency, rack failures, or cloud availability zone splits.</a:t>
            </a:r>
          </a:p>
        </p:txBody>
      </p:sp>
      <p:sp>
        <p:nvSpPr>
          <p:cNvPr id="8" name="Rounded Rectangle 7"/>
          <p:cNvSpPr/>
          <p:nvPr/>
        </p:nvSpPr>
        <p:spPr>
          <a:xfrm>
            <a:off x="6217920" y="132588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508760"/>
            <a:ext cx="4709160" cy="1691640"/>
          </a:xfrm>
          <a:prstGeom prst="rect">
            <a:avLst/>
          </a:prstGeom>
          <a:noFill/>
        </p:spPr>
        <p:txBody>
          <a:bodyPr wrap="square" lIns="36576" rIns="36576" tIns="36576" bIns="36576">
            <a:spAutoFit/>
          </a:bodyPr>
          <a:lstStyle/>
          <a:p>
            <a:pPr>
              <a:defRPr sz="1200" b="1">
                <a:solidFill>
                  <a:srgbClr val="D97706"/>
                </a:solidFill>
                <a:latin typeface="Segoe UI"/>
              </a:defRPr>
            </a:pPr>
            <a:r>
              <a:t>Synthetic Telemetry Bias</a:t>
            </a:r>
          </a:p>
          <a:p>
            <a:pPr>
              <a:spcBef>
                <a:spcPts val="400"/>
              </a:spcBef>
              <a:defRPr sz="900">
                <a:solidFill>
                  <a:srgbClr val="334155"/>
                </a:solidFill>
                <a:latin typeface="Segoe UI"/>
              </a:defRPr>
            </a:pPr>
            <a:r>
              <a:t>All sensor readings were generated by physics simulation models. Ultrasonic readings did not exhibit real-world environmental sensor noise, transducer echoes, or unpredictable household usage spikes.</a:t>
            </a:r>
          </a:p>
        </p:txBody>
      </p:sp>
      <p:sp>
        <p:nvSpPr>
          <p:cNvPr id="10" name="Rounded Rectangle 9"/>
          <p:cNvSpPr/>
          <p:nvPr/>
        </p:nvSpPr>
        <p:spPr>
          <a:xfrm>
            <a:off x="731520" y="352044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703320"/>
            <a:ext cx="4709160" cy="1691640"/>
          </a:xfrm>
          <a:prstGeom prst="rect">
            <a:avLst/>
          </a:prstGeom>
          <a:noFill/>
        </p:spPr>
        <p:txBody>
          <a:bodyPr wrap="square" lIns="36576" rIns="36576" tIns="36576" bIns="36576">
            <a:spAutoFit/>
          </a:bodyPr>
          <a:lstStyle/>
          <a:p>
            <a:pPr>
              <a:defRPr sz="1200" b="1">
                <a:solidFill>
                  <a:srgbClr val="D97706"/>
                </a:solidFill>
                <a:latin typeface="Segoe UI"/>
              </a:defRPr>
            </a:pPr>
            <a:r>
              <a:t>Transport &amp; Cluster Security</a:t>
            </a:r>
          </a:p>
          <a:p>
            <a:pPr>
              <a:spcBef>
                <a:spcPts val="400"/>
              </a:spcBef>
              <a:defRPr sz="900">
                <a:solidFill>
                  <a:srgbClr val="334155"/>
                </a:solidFill>
                <a:latin typeface="Segoe UI"/>
              </a:defRPr>
            </a:pPr>
            <a:r>
              <a:t>Development prototype operated without TLS encryption, MQTT broker accepted anonymous connections, and MongoDB ran without SCRAM-SHA-256 role-based access control (RBAC).</a:t>
            </a:r>
          </a:p>
        </p:txBody>
      </p:sp>
      <p:sp>
        <p:nvSpPr>
          <p:cNvPr id="12" name="Rounded Rectangle 11"/>
          <p:cNvSpPr/>
          <p:nvPr/>
        </p:nvSpPr>
        <p:spPr>
          <a:xfrm>
            <a:off x="6217920" y="352044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703320"/>
            <a:ext cx="4709160" cy="1691640"/>
          </a:xfrm>
          <a:prstGeom prst="rect">
            <a:avLst/>
          </a:prstGeom>
          <a:noFill/>
        </p:spPr>
        <p:txBody>
          <a:bodyPr wrap="square" lIns="36576" rIns="36576" tIns="36576" bIns="36576">
            <a:spAutoFit/>
          </a:bodyPr>
          <a:lstStyle/>
          <a:p>
            <a:pPr>
              <a:defRPr sz="1200" b="1">
                <a:solidFill>
                  <a:srgbClr val="D97706"/>
                </a:solidFill>
                <a:latin typeface="Segoe UI"/>
              </a:defRPr>
            </a:pPr>
            <a:r>
              <a:t>Backup &amp; Secondary Staleness</a:t>
            </a:r>
          </a:p>
          <a:p>
            <a:pPr>
              <a:spcBef>
                <a:spcPts val="400"/>
              </a:spcBef>
              <a:defRPr sz="900">
                <a:solidFill>
                  <a:srgbClr val="334155"/>
                </a:solidFill>
                <a:latin typeface="Segoe UI"/>
              </a:defRPr>
            </a:pPr>
            <a:r>
              <a:t>Backups relied on periodic logical dumps (mongodump) rather than continuous oplog streaming (precluding point-in-time recovery). Dashboard reads on secondaries risk slight replication staleness.</a:t>
            </a:r>
          </a:p>
        </p:txBody>
      </p:sp>
      <p:sp>
        <p:nvSpPr>
          <p:cNvPr id="14" name="Rounded Rectangle 13"/>
          <p:cNvSpPr/>
          <p:nvPr/>
        </p:nvSpPr>
        <p:spPr>
          <a:xfrm>
            <a:off x="731520" y="5715000"/>
            <a:ext cx="1074420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852160"/>
            <a:ext cx="10287000" cy="502920"/>
          </a:xfrm>
          <a:prstGeom prst="rect">
            <a:avLst/>
          </a:prstGeom>
          <a:noFill/>
        </p:spPr>
        <p:txBody>
          <a:bodyPr wrap="square" lIns="36576" rIns="36576" tIns="36576" bIns="36576">
            <a:spAutoFit/>
          </a:bodyPr>
          <a:lstStyle/>
          <a:p>
            <a:r>
              <a:rPr b="1" sz="950">
                <a:solidFill>
                  <a:srgbClr val="0F172A"/>
                </a:solidFill>
              </a:rPr>
              <a:t>Academic &amp; Engineering Integrity: </a:t>
            </a:r>
            <a:r>
              <a:rPr sz="880">
                <a:solidFill>
                  <a:srgbClr val="64748B"/>
                </a:solidFill>
              </a:rPr>
              <a:t>These limitations highlight that the prototype is a rigorously validated architectural design, not an immediate production deployment. The next slide presents our structured, gated roadmap to bridge these operational gaps.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7315200" cy="292608"/>
          </a:xfrm>
          <a:prstGeom prst="rect">
            <a:avLst/>
          </a:prstGeom>
          <a:noFill/>
        </p:spPr>
        <p:txBody>
          <a:bodyPr wrap="square" lIns="0" rIns="0" tIns="0" bIns="0">
            <a:spAutoFit/>
          </a:bodyPr>
          <a:lstStyle/>
          <a:p>
            <a:pPr>
              <a:defRPr sz="950" b="1">
                <a:solidFill>
                  <a:srgbClr val="0284C7"/>
                </a:solidFill>
                <a:latin typeface="Segoe UI"/>
              </a:defRPr>
            </a:pPr>
            <a:r>
              <a:t>STRATEGIC ROADMAP</a:t>
            </a:r>
          </a:p>
        </p:txBody>
      </p:sp>
      <p:sp>
        <p:nvSpPr>
          <p:cNvPr id="4" name="TextBox 3"/>
          <p:cNvSpPr txBox="1"/>
          <p:nvPr/>
        </p:nvSpPr>
        <p:spPr>
          <a:xfrm>
            <a:off x="731520" y="621792"/>
            <a:ext cx="9601200" cy="548640"/>
          </a:xfrm>
          <a:prstGeom prst="rect">
            <a:avLst/>
          </a:prstGeom>
          <a:noFill/>
        </p:spPr>
        <p:txBody>
          <a:bodyPr wrap="square" lIns="0" rIns="0" tIns="0" bIns="0">
            <a:spAutoFit/>
          </a:bodyPr>
          <a:lstStyle/>
          <a:p>
            <a:pPr>
              <a:defRPr sz="2100" b="1">
                <a:solidFill>
                  <a:srgbClr val="0F172A"/>
                </a:solidFill>
                <a:latin typeface="Segoe UI"/>
              </a:defRPr>
            </a:pPr>
            <a:r>
              <a:t>Phased Executive Roadmap: Production Transition</a:t>
            </a:r>
          </a:p>
        </p:txBody>
      </p:sp>
      <p:sp>
        <p:nvSpPr>
          <p:cNvPr id="5" name="TextBox 4"/>
          <p:cNvSpPr txBox="1"/>
          <p:nvPr/>
        </p:nvSpPr>
        <p:spPr>
          <a:xfrm>
            <a:off x="10332720" y="384048"/>
            <a:ext cx="1097280" cy="365760"/>
          </a:xfrm>
          <a:prstGeom prst="rect">
            <a:avLst/>
          </a:prstGeom>
          <a:noFill/>
        </p:spPr>
        <p:txBody>
          <a:bodyPr wrap="none" lIns="0" rIns="0" tIns="0" bIns="0">
            <a:spAutoFit/>
          </a:bodyPr>
          <a:lstStyle/>
          <a:p>
            <a:pPr algn="r">
              <a:defRPr sz="1100" b="1">
                <a:solidFill>
                  <a:srgbClr val="64748B"/>
                </a:solidFill>
                <a:latin typeface="Segoe UI"/>
              </a:defRPr>
            </a:pPr>
            <a:r>
              <a:t>14 / 15</a:t>
            </a:r>
          </a:p>
        </p:txBody>
      </p:sp>
      <p:sp>
        <p:nvSpPr>
          <p:cNvPr id="6" name="Rounded Rectangle 5"/>
          <p:cNvSpPr/>
          <p:nvPr/>
        </p:nvSpPr>
        <p:spPr>
          <a:xfrm>
            <a:off x="731520" y="1325880"/>
            <a:ext cx="1074420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472184"/>
            <a:ext cx="2011680" cy="8229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2011680" cy="731520"/>
          </a:xfrm>
          <a:prstGeom prst="rect">
            <a:avLst/>
          </a:prstGeom>
          <a:noFill/>
        </p:spPr>
        <p:txBody>
          <a:bodyPr wrap="square">
            <a:spAutoFit/>
          </a:bodyPr>
          <a:lstStyle/>
          <a:p>
            <a:pPr algn="ctr">
              <a:defRPr sz="1050" b="1">
                <a:solidFill>
                  <a:srgbClr val="FFFFFF"/>
                </a:solidFill>
                <a:latin typeface="Segoe UI"/>
              </a:defRPr>
            </a:pPr>
            <a:r>
              <a:t>Phase 1: Correctness</a:t>
            </a:r>
          </a:p>
          <a:p>
            <a:pPr algn="ctr">
              <a:spcBef>
                <a:spcPts val="200"/>
              </a:spcBef>
              <a:defRPr sz="900">
                <a:solidFill>
                  <a:srgbClr val="F1F5F9"/>
                </a:solidFill>
              </a:defRPr>
            </a:pPr>
            <a:r>
              <a:t>Effort: 2–3 Weeks</a:t>
            </a:r>
          </a:p>
        </p:txBody>
      </p:sp>
      <p:sp>
        <p:nvSpPr>
          <p:cNvPr id="9" name="TextBox 8"/>
          <p:cNvSpPr txBox="1"/>
          <p:nvPr/>
        </p:nvSpPr>
        <p:spPr>
          <a:xfrm>
            <a:off x="3108960" y="1435608"/>
            <a:ext cx="8138160" cy="896112"/>
          </a:xfrm>
          <a:prstGeom prst="rect">
            <a:avLst/>
          </a:prstGeom>
          <a:noFill/>
        </p:spPr>
        <p:txBody>
          <a:bodyPr wrap="square">
            <a:spAutoFit/>
          </a:bodyPr>
          <a:lstStyle/>
          <a:p>
            <a:r>
              <a:rPr b="1" sz="950">
                <a:solidFill>
                  <a:srgbClr val="0F172A"/>
                </a:solidFill>
              </a:rPr>
              <a:t>Scope: </a:t>
            </a:r>
            <a:r>
              <a:rPr sz="900">
                <a:solidFill>
                  <a:srgbClr val="334155"/>
                </a:solidFill>
              </a:rPr>
              <a:t>Transactional Outbox pattern coupling Mongo writes with MQTT actuator commands; alert deduplication; write retry buffer during elections.</a:t>
            </a:r>
          </a:p>
          <a:p>
            <a:pPr>
              <a:spcBef>
                <a:spcPts val="300"/>
              </a:spcBef>
            </a:pPr>
            <a:r>
              <a:rPr b="1" sz="950">
                <a:solidFill>
                  <a:srgbClr val="0284C7"/>
                </a:solidFill>
              </a:rPr>
              <a:t>Measurable Gate Criterion: </a:t>
            </a:r>
            <a:r>
              <a:rPr sz="900">
                <a:solidFill>
                  <a:srgbClr val="334155"/>
                </a:solidFill>
              </a:rPr>
              <a:t>Zero duplicate or orphaned actuator commands in integration test suite.</a:t>
            </a:r>
          </a:p>
        </p:txBody>
      </p:sp>
      <p:sp>
        <p:nvSpPr>
          <p:cNvPr id="10" name="Rounded Rectangle 9"/>
          <p:cNvSpPr/>
          <p:nvPr/>
        </p:nvSpPr>
        <p:spPr>
          <a:xfrm>
            <a:off x="731520" y="2560320"/>
            <a:ext cx="1074420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706624"/>
            <a:ext cx="2011680" cy="8229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43200"/>
            <a:ext cx="2011680" cy="731520"/>
          </a:xfrm>
          <a:prstGeom prst="rect">
            <a:avLst/>
          </a:prstGeom>
          <a:noFill/>
        </p:spPr>
        <p:txBody>
          <a:bodyPr wrap="square">
            <a:spAutoFit/>
          </a:bodyPr>
          <a:lstStyle/>
          <a:p>
            <a:pPr algn="ctr">
              <a:defRPr sz="1050" b="1">
                <a:solidFill>
                  <a:srgbClr val="FFFFFF"/>
                </a:solidFill>
                <a:latin typeface="Segoe UI"/>
              </a:defRPr>
            </a:pPr>
            <a:r>
              <a:t>Phase 2: Hardening</a:t>
            </a:r>
          </a:p>
          <a:p>
            <a:pPr algn="ctr">
              <a:spcBef>
                <a:spcPts val="200"/>
              </a:spcBef>
              <a:defRPr sz="900">
                <a:solidFill>
                  <a:srgbClr val="F1F5F9"/>
                </a:solidFill>
              </a:defRPr>
            </a:pPr>
            <a:r>
              <a:t>Effort: 3–4 Weeks</a:t>
            </a:r>
          </a:p>
        </p:txBody>
      </p:sp>
      <p:sp>
        <p:nvSpPr>
          <p:cNvPr id="13" name="TextBox 12"/>
          <p:cNvSpPr txBox="1"/>
          <p:nvPr/>
        </p:nvSpPr>
        <p:spPr>
          <a:xfrm>
            <a:off x="3108960" y="2670048"/>
            <a:ext cx="8138160" cy="896112"/>
          </a:xfrm>
          <a:prstGeom prst="rect">
            <a:avLst/>
          </a:prstGeom>
          <a:noFill/>
        </p:spPr>
        <p:txBody>
          <a:bodyPr wrap="square">
            <a:spAutoFit/>
          </a:bodyPr>
          <a:lstStyle/>
          <a:p>
            <a:r>
              <a:rPr b="1" sz="950">
                <a:solidFill>
                  <a:srgbClr val="0F172A"/>
                </a:solidFill>
              </a:rPr>
              <a:t>Scope: </a:t>
            </a:r>
            <a:r>
              <a:rPr sz="900">
                <a:solidFill>
                  <a:srgbClr val="334155"/>
                </a:solidFill>
              </a:rPr>
              <a:t>Separate replica members across cloud Availability Zones; enforce TLS 1.3, SCRAM-SHA-256 RBAC, encrypted MQTT; continuous oplog backups.</a:t>
            </a:r>
          </a:p>
          <a:p>
            <a:pPr>
              <a:spcBef>
                <a:spcPts val="300"/>
              </a:spcBef>
            </a:pPr>
            <a:r>
              <a:rPr b="1" sz="950">
                <a:solidFill>
                  <a:srgbClr val="0D9488"/>
                </a:solidFill>
              </a:rPr>
              <a:t>Measurable Gate Criterion: </a:t>
            </a:r>
            <a:r>
              <a:rPr sz="900">
                <a:solidFill>
                  <a:srgbClr val="334155"/>
                </a:solidFill>
              </a:rPr>
              <a:t>Multi-host failover verified under TLS with zero write loss; successful point-in-time recovery.</a:t>
            </a:r>
          </a:p>
        </p:txBody>
      </p:sp>
      <p:sp>
        <p:nvSpPr>
          <p:cNvPr id="14" name="Rounded Rectangle 13"/>
          <p:cNvSpPr/>
          <p:nvPr/>
        </p:nvSpPr>
        <p:spPr>
          <a:xfrm>
            <a:off x="731520" y="3794760"/>
            <a:ext cx="1074420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3941064"/>
            <a:ext cx="2011680" cy="8229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77640"/>
            <a:ext cx="2011680" cy="731520"/>
          </a:xfrm>
          <a:prstGeom prst="rect">
            <a:avLst/>
          </a:prstGeom>
          <a:noFill/>
        </p:spPr>
        <p:txBody>
          <a:bodyPr wrap="square">
            <a:spAutoFit/>
          </a:bodyPr>
          <a:lstStyle/>
          <a:p>
            <a:pPr algn="ctr">
              <a:defRPr sz="1050" b="1">
                <a:solidFill>
                  <a:srgbClr val="FFFFFF"/>
                </a:solidFill>
                <a:latin typeface="Segoe UI"/>
              </a:defRPr>
            </a:pPr>
            <a:r>
              <a:t>Phase 3: Pilot Validation</a:t>
            </a:r>
          </a:p>
          <a:p>
            <a:pPr algn="ctr">
              <a:spcBef>
                <a:spcPts val="200"/>
              </a:spcBef>
              <a:defRPr sz="900">
                <a:solidFill>
                  <a:srgbClr val="F1F5F9"/>
                </a:solidFill>
              </a:defRPr>
            </a:pPr>
            <a:r>
              <a:t>Effort: 6–8 Weeks</a:t>
            </a:r>
          </a:p>
        </p:txBody>
      </p:sp>
      <p:sp>
        <p:nvSpPr>
          <p:cNvPr id="17" name="TextBox 16"/>
          <p:cNvSpPr txBox="1"/>
          <p:nvPr/>
        </p:nvSpPr>
        <p:spPr>
          <a:xfrm>
            <a:off x="3108960" y="3904488"/>
            <a:ext cx="8138160" cy="896112"/>
          </a:xfrm>
          <a:prstGeom prst="rect">
            <a:avLst/>
          </a:prstGeom>
          <a:noFill/>
        </p:spPr>
        <p:txBody>
          <a:bodyPr wrap="square">
            <a:spAutoFit/>
          </a:bodyPr>
          <a:lstStyle/>
          <a:p>
            <a:r>
              <a:rPr b="1" sz="950">
                <a:solidFill>
                  <a:srgbClr val="0F172A"/>
                </a:solidFill>
              </a:rPr>
              <a:t>Scope: </a:t>
            </a:r>
            <a:r>
              <a:rPr sz="900">
                <a:solidFill>
                  <a:srgbClr val="334155"/>
                </a:solidFill>
              </a:rPr>
              <a:t>Replace synthetic simulator with physical ESP32 microcontrollers in 50 pilot homes; calibrate ultrasonic noise and leak thresholds.</a:t>
            </a:r>
          </a:p>
          <a:p>
            <a:pPr>
              <a:spcBef>
                <a:spcPts val="300"/>
              </a:spcBef>
            </a:pPr>
            <a:r>
              <a:rPr b="1" sz="950">
                <a:solidFill>
                  <a:srgbClr val="D97706"/>
                </a:solidFill>
              </a:rPr>
              <a:t>Measurable Gate Criterion: </a:t>
            </a:r>
            <a:r>
              <a:rPr sz="900">
                <a:solidFill>
                  <a:srgbClr val="334155"/>
                </a:solidFill>
              </a:rPr>
              <a:t>Leak false-positive rate and depletion forecast error within agreed business SLAs.</a:t>
            </a:r>
          </a:p>
        </p:txBody>
      </p:sp>
      <p:sp>
        <p:nvSpPr>
          <p:cNvPr id="18" name="Rounded Rectangle 17"/>
          <p:cNvSpPr/>
          <p:nvPr/>
        </p:nvSpPr>
        <p:spPr>
          <a:xfrm>
            <a:off x="731520" y="5029200"/>
            <a:ext cx="1074420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5175504"/>
            <a:ext cx="2011680" cy="8229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212080"/>
            <a:ext cx="2011680" cy="731520"/>
          </a:xfrm>
          <a:prstGeom prst="rect">
            <a:avLst/>
          </a:prstGeom>
          <a:noFill/>
        </p:spPr>
        <p:txBody>
          <a:bodyPr wrap="square">
            <a:spAutoFit/>
          </a:bodyPr>
          <a:lstStyle/>
          <a:p>
            <a:pPr algn="ctr">
              <a:defRPr sz="1050" b="1">
                <a:solidFill>
                  <a:srgbClr val="FFFFFF"/>
                </a:solidFill>
                <a:latin typeface="Segoe UI"/>
              </a:defRPr>
            </a:pPr>
            <a:r>
              <a:t>Phase 4: Scale-Out</a:t>
            </a:r>
          </a:p>
          <a:p>
            <a:pPr algn="ctr">
              <a:spcBef>
                <a:spcPts val="200"/>
              </a:spcBef>
              <a:defRPr sz="900">
                <a:solidFill>
                  <a:srgbClr val="F1F5F9"/>
                </a:solidFill>
              </a:defRPr>
            </a:pPr>
            <a:r>
              <a:t>Effort: 4–6 Weeks</a:t>
            </a:r>
          </a:p>
        </p:txBody>
      </p:sp>
      <p:sp>
        <p:nvSpPr>
          <p:cNvPr id="21" name="TextBox 20"/>
          <p:cNvSpPr txBox="1"/>
          <p:nvPr/>
        </p:nvSpPr>
        <p:spPr>
          <a:xfrm>
            <a:off x="3108960" y="5138928"/>
            <a:ext cx="8138160" cy="896112"/>
          </a:xfrm>
          <a:prstGeom prst="rect">
            <a:avLst/>
          </a:prstGeom>
          <a:noFill/>
        </p:spPr>
        <p:txBody>
          <a:bodyPr wrap="square">
            <a:spAutoFit/>
          </a:bodyPr>
          <a:lstStyle/>
          <a:p>
            <a:r>
              <a:rPr b="1" sz="950">
                <a:solidFill>
                  <a:srgbClr val="0F172A"/>
                </a:solidFill>
              </a:rPr>
              <a:t>Scope: </a:t>
            </a:r>
            <a:r>
              <a:rPr sz="900">
                <a:solidFill>
                  <a:srgbClr val="334155"/>
                </a:solidFill>
              </a:rPr>
              <a:t>Deploy horizontal sharding with compound shard key { household_id: 'hashed', timestamp: 1 } or MongoDB Time Series collections.</a:t>
            </a:r>
          </a:p>
          <a:p>
            <a:pPr>
              <a:spcBef>
                <a:spcPts val="300"/>
              </a:spcBef>
            </a:pPr>
            <a:r>
              <a:rPr b="1" sz="950">
                <a:solidFill>
                  <a:srgbClr val="16A34A"/>
                </a:solidFill>
              </a:rPr>
              <a:t>Measurable Gate Criterion: </a:t>
            </a:r>
            <a:r>
              <a:rPr sz="900">
                <a:solidFill>
                  <a:srgbClr val="334155"/>
                </a:solidFill>
              </a:rPr>
              <a:t>Load testing confirms sustained ingestion exceeding single-primary capacity.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10362895" cy="731520"/>
          </a:xfrm>
          <a:prstGeom prst="rect">
            <a:avLst/>
          </a:prstGeom>
          <a:noFill/>
        </p:spPr>
        <p:txBody>
          <a:bodyPr wrap="none">
            <a:spAutoFit/>
          </a:bodyPr>
          <a:lstStyle/>
          <a:p>
            <a:pPr>
              <a:defRPr sz="2600" b="1">
                <a:solidFill>
                  <a:srgbClr val="FFFFFF"/>
                </a:solidFill>
                <a:latin typeface="Segoe UI"/>
              </a:defRPr>
            </a:pPr>
            <a:r>
              <a:t>Conclusion &amp; Executive Recommendation</a:t>
            </a:r>
          </a:p>
          <a:p>
            <a:pPr>
              <a:spcBef>
                <a:spcPts val="300"/>
              </a:spcBef>
              <a:defRPr sz="1300">
                <a:solidFill>
                  <a:srgbClr val="94A3B8"/>
                </a:solidFill>
              </a:defRPr>
            </a:pPr>
            <a:r>
              <a:t>IoThings Home Automation Solutions — CMP6207 Final Verdict</a:t>
            </a:r>
          </a:p>
        </p:txBody>
      </p:sp>
      <p:sp>
        <p:nvSpPr>
          <p:cNvPr id="4" name="Rounded Rectangle 3"/>
          <p:cNvSpPr/>
          <p:nvPr/>
        </p:nvSpPr>
        <p:spPr>
          <a:xfrm>
            <a:off x="914400" y="1783080"/>
            <a:ext cx="3291840" cy="310896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11680"/>
            <a:ext cx="2743200" cy="2651760"/>
          </a:xfrm>
          <a:prstGeom prst="rect">
            <a:avLst/>
          </a:prstGeom>
          <a:noFill/>
        </p:spPr>
        <p:txBody>
          <a:bodyPr wrap="square" lIns="36576" rIns="36576" tIns="36576" bIns="36576">
            <a:spAutoFit/>
          </a:bodyPr>
          <a:lstStyle/>
          <a:p>
            <a:pPr>
              <a:defRPr sz="1400" b="1">
                <a:solidFill>
                  <a:srgbClr val="0284C7"/>
                </a:solidFill>
                <a:latin typeface="Segoe UI"/>
              </a:defRPr>
            </a:pPr>
            <a:r>
              <a:t>Technical Validation</a:t>
            </a:r>
          </a:p>
          <a:p>
            <a:pPr>
              <a:spcBef>
                <a:spcPts val="600"/>
              </a:spcBef>
              <a:defRPr sz="1000">
                <a:solidFill>
                  <a:srgbClr val="E2E8F0"/>
                </a:solidFill>
                <a:latin typeface="Segoe UI"/>
              </a:defRPr>
            </a:pPr>
            <a:r>
              <a:t>MongoDB is definitively validated for smart tank telemetry. Schema agility absorbs firmware updates without DDL locks, and compound indexing cuts query latency by 105x.</a:t>
            </a:r>
          </a:p>
        </p:txBody>
      </p:sp>
      <p:sp>
        <p:nvSpPr>
          <p:cNvPr id="6" name="Rounded Rectangle 5"/>
          <p:cNvSpPr/>
          <p:nvPr/>
        </p:nvSpPr>
        <p:spPr>
          <a:xfrm>
            <a:off x="4480560" y="1783080"/>
            <a:ext cx="3291840" cy="310896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2011680"/>
            <a:ext cx="2743200" cy="2651760"/>
          </a:xfrm>
          <a:prstGeom prst="rect">
            <a:avLst/>
          </a:prstGeom>
          <a:noFill/>
        </p:spPr>
        <p:txBody>
          <a:bodyPr wrap="square" lIns="36576" rIns="36576" tIns="36576" bIns="36576">
            <a:spAutoFit/>
          </a:bodyPr>
          <a:lstStyle/>
          <a:p>
            <a:pPr>
              <a:defRPr sz="1400" b="1">
                <a:solidFill>
                  <a:srgbClr val="0D9488"/>
                </a:solidFill>
                <a:latin typeface="Segoe UI"/>
              </a:defRPr>
            </a:pPr>
            <a:r>
              <a:t>Polyglot Strategy</a:t>
            </a:r>
          </a:p>
          <a:p>
            <a:pPr>
              <a:spcBef>
                <a:spcPts val="600"/>
              </a:spcBef>
              <a:defRPr sz="1000">
                <a:solidFill>
                  <a:srgbClr val="E2E8F0"/>
                </a:solidFill>
                <a:latin typeface="Segoe UI"/>
              </a:defRPr>
            </a:pPr>
            <a:r>
              <a:t>Do not replace existing relational systems. Maintain RDBMS for ACID-governed billing and inventory, while deploying MongoDB beside them for telemetry and real-time automation.</a:t>
            </a:r>
          </a:p>
        </p:txBody>
      </p:sp>
      <p:sp>
        <p:nvSpPr>
          <p:cNvPr id="8" name="Rounded Rectangle 7"/>
          <p:cNvSpPr/>
          <p:nvPr/>
        </p:nvSpPr>
        <p:spPr>
          <a:xfrm>
            <a:off x="8046720" y="1783080"/>
            <a:ext cx="3291840" cy="3108960"/>
          </a:xfrm>
          <a:prstGeom prst="roundRect">
            <a:avLst/>
          </a:prstGeom>
          <a:solidFill>
            <a:srgbClr val="1E293B"/>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2011680"/>
            <a:ext cx="2743200" cy="2651760"/>
          </a:xfrm>
          <a:prstGeom prst="rect">
            <a:avLst/>
          </a:prstGeom>
          <a:noFill/>
        </p:spPr>
        <p:txBody>
          <a:bodyPr wrap="square" lIns="36576" rIns="36576" tIns="36576" bIns="36576">
            <a:spAutoFit/>
          </a:bodyPr>
          <a:lstStyle/>
          <a:p>
            <a:pPr>
              <a:defRPr sz="1400" b="1">
                <a:solidFill>
                  <a:srgbClr val="16A34A"/>
                </a:solidFill>
                <a:latin typeface="Segoe UI"/>
              </a:defRPr>
            </a:pPr>
            <a:r>
              <a:t>Operational Reliability</a:t>
            </a:r>
          </a:p>
          <a:p>
            <a:pPr>
              <a:spcBef>
                <a:spcPts val="600"/>
              </a:spcBef>
              <a:defRPr sz="1000">
                <a:solidFill>
                  <a:srgbClr val="E2E8F0"/>
                </a:solidFill>
                <a:latin typeface="Segoe UI"/>
              </a:defRPr>
            </a:pPr>
            <a:r>
              <a:t>A 3-member replica set provides automatic failover with zero lost acknowledged writes. A bounded ~11s pause during abrupt crash preserves complete consistency without split-brain.</a:t>
            </a:r>
          </a:p>
        </p:txBody>
      </p:sp>
      <p:sp>
        <p:nvSpPr>
          <p:cNvPr id="10" name="TextBox 9"/>
          <p:cNvSpPr txBox="1"/>
          <p:nvPr/>
        </p:nvSpPr>
        <p:spPr>
          <a:xfrm>
            <a:off x="914400" y="5166360"/>
            <a:ext cx="10362895" cy="1097280"/>
          </a:xfrm>
          <a:prstGeom prst="rect">
            <a:avLst/>
          </a:prstGeom>
          <a:noFill/>
        </p:spPr>
        <p:txBody>
          <a:bodyPr wrap="none">
            <a:spAutoFit/>
          </a:bodyPr>
          <a:lstStyle/>
          <a:p>
            <a:pPr algn="ctr">
              <a:defRPr sz="1900" b="1">
                <a:solidFill>
                  <a:srgbClr val="FFFFFF"/>
                </a:solidFill>
                <a:latin typeface="Segoe UI"/>
              </a:defRPr>
            </a:pPr>
            <a:r>
              <a:t>Thank You! Questions &amp; Discussion Welcomed.</a:t>
            </a:r>
          </a:p>
          <a:p>
            <a:pPr algn="ctr">
              <a:spcBef>
                <a:spcPts val="400"/>
              </a:spcBef>
              <a:defRPr sz="1150">
                <a:solidFill>
                  <a:srgbClr val="94A3B8"/>
                </a:solidFill>
              </a:defRPr>
            </a:pPr>
            <a:r>
              <a:t>Shekhar Lamichhane Magar  •  Student ID: 23189647  •  CMP6207 Modern Data Stores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